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</p:sldMasterIdLst>
  <p:notesMasterIdLst>
    <p:notesMasterId r:id="rId30"/>
  </p:notesMasterIdLst>
  <p:sldIdLst>
    <p:sldId id="276" r:id="rId7"/>
    <p:sldId id="256" r:id="rId8"/>
    <p:sldId id="257" r:id="rId9"/>
    <p:sldId id="258" r:id="rId10"/>
    <p:sldId id="277" r:id="rId11"/>
    <p:sldId id="325" r:id="rId12"/>
    <p:sldId id="326" r:id="rId13"/>
    <p:sldId id="328" r:id="rId14"/>
    <p:sldId id="329" r:id="rId15"/>
    <p:sldId id="331" r:id="rId16"/>
    <p:sldId id="335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4"/>
    <p:restoredTop sz="94719"/>
  </p:normalViewPr>
  <p:slideViewPr>
    <p:cSldViewPr snapToGrid="0">
      <p:cViewPr varScale="1">
        <p:scale>
          <a:sx n="115" d="100"/>
          <a:sy n="115" d="100"/>
        </p:scale>
        <p:origin x="171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34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88271-110E-284E-BDF5-E46245F1FF69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55A477-73EB-304B-894B-0CAB05012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191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D0084-C2C8-5540-AAF7-C89E7253EE2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582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D0084-C2C8-5540-AAF7-C89E7253EE2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074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D0084-C2C8-5540-AAF7-C89E7253EE2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644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D0084-C2C8-5540-AAF7-C89E7253EE2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076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E75F0-29C9-3767-1FF2-5BDFF96BC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3FCDD-2FCE-8C83-0677-E0CC3CAEB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42543-AE5C-AA4E-A9D5-30F1C4B85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509E-A8CC-7D4A-9558-F93678A4FBA3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E146A-9B6E-C53F-A782-90CAA7DE2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7408-6118-2A5C-328E-FD201BDAB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82015-1815-314E-88F7-9DF68C797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93297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51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8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9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3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72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bioconductor.org" TargetMode="External"/><Relationship Id="rId2" Type="http://schemas.openxmlformats.org/officeDocument/2006/relationships/hyperlink" Target="https://cran.r-project.org" TargetMode="External"/><Relationship Id="rId1" Type="http://schemas.openxmlformats.org/officeDocument/2006/relationships/slideLayout" Target="../slideLayouts/slideLayout25.xml"/><Relationship Id="rId4" Type="http://schemas.openxmlformats.org/officeDocument/2006/relationships/hyperlink" Target="https://github.com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swirlstats.com/students.html" TargetMode="External"/><Relationship Id="rId2" Type="http://schemas.openxmlformats.org/officeDocument/2006/relationships/hyperlink" Target="https://bookdown.org/rdpeng/rprogdatascience/" TargetMode="External"/><Relationship Id="rId1" Type="http://schemas.openxmlformats.org/officeDocument/2006/relationships/slideLayout" Target="../slideLayouts/slideLayout25.xml"/><Relationship Id="rId5" Type="http://schemas.openxmlformats.org/officeDocument/2006/relationships/hyperlink" Target="https://www.r-graph-gallery.com/" TargetMode="External"/><Relationship Id="rId4" Type="http://schemas.openxmlformats.org/officeDocument/2006/relationships/hyperlink" Target="https://www.tidyverse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CustomShape 1"/>
          <p:cNvSpPr/>
          <p:nvPr/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8000" lnSpcReduction="20000"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Welcome to </a:t>
            </a:r>
          </a:p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Intro to R for Biologists</a:t>
            </a:r>
            <a:br>
              <a:rPr dirty="0"/>
            </a:br>
            <a:r>
              <a:rPr lang="en-GB" dirty="0"/>
              <a:t>We’ll start at 10:00am, please ask if you have any questions </a:t>
            </a:r>
            <a:r>
              <a:rPr lang="en-GB"/>
              <a:t>about what we learnt so far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229" name="CustomShape 2"/>
          <p:cNvSpPr/>
          <p:nvPr/>
        </p:nvSpPr>
        <p:spPr>
          <a:xfrm>
            <a:off x="1378080" y="4766400"/>
            <a:ext cx="6399720" cy="175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spc="-1" dirty="0">
                <a:solidFill>
                  <a:srgbClr val="8B8B8B"/>
                </a:solidFill>
                <a:latin typeface="Calibri"/>
                <a:ea typeface="DejaVu Sans"/>
              </a:rPr>
              <a:t>Bea</a:t>
            </a: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 &amp; Wojciech</a:t>
            </a:r>
            <a:endParaRPr lang="en-GB" sz="3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Trinity 2026</a:t>
            </a:r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CustomShape 1"/>
          <p:cNvSpPr/>
          <p:nvPr/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0500" lnSpcReduction="20000"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  <a:ea typeface="Calibri"/>
              </a:rPr>
              <a:t>Intro to R for Biologists</a:t>
            </a:r>
            <a:br/>
            <a:r>
              <a:rPr lang="en-US" sz="4400" b="0" strike="noStrike" spc="-1">
                <a:solidFill>
                  <a:srgbClr val="000000"/>
                </a:solidFill>
                <a:latin typeface="Calibri"/>
                <a:ea typeface="Calibri"/>
              </a:rPr>
              <a:t>Session 2</a:t>
            </a:r>
            <a:br/>
            <a:r>
              <a:rPr lang="en-US" sz="4400" b="1" strike="noStrike" spc="-1">
                <a:solidFill>
                  <a:srgbClr val="000000"/>
                </a:solidFill>
                <a:latin typeface="Calibri"/>
                <a:ea typeface="Calibri"/>
              </a:rPr>
              <a:t>Data exploration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29" name="CustomShape 2"/>
          <p:cNvSpPr/>
          <p:nvPr/>
        </p:nvSpPr>
        <p:spPr>
          <a:xfrm>
            <a:off x="1378080" y="4766400"/>
            <a:ext cx="6399360" cy="1751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spc="-1" dirty="0">
                <a:solidFill>
                  <a:srgbClr val="8B8B8B"/>
                </a:solidFill>
                <a:latin typeface="Calibri"/>
                <a:ea typeface="DejaVu Sans"/>
              </a:rPr>
              <a:t>Bea</a:t>
            </a: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 &amp; Wojciech</a:t>
            </a:r>
            <a:endParaRPr lang="en-GB" sz="3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Trinity 2026</a:t>
            </a:r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ustomShape 1"/>
          <p:cNvSpPr/>
          <p:nvPr/>
        </p:nvSpPr>
        <p:spPr>
          <a:xfrm>
            <a:off x="480240" y="1371600"/>
            <a:ext cx="3612600" cy="3451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algn="r">
              <a:lnSpc>
                <a:spcPct val="100000"/>
              </a:lnSpc>
              <a:spcAft>
                <a:spcPts val="544"/>
              </a:spcAft>
              <a:tabLst>
                <a:tab pos="0" algn="l"/>
              </a:tabLst>
            </a:pPr>
            <a:r>
              <a:rPr lang="en-US" sz="3900" b="0" strike="noStrike" cap="all" spc="-1">
                <a:solidFill>
                  <a:srgbClr val="000000"/>
                </a:solidFill>
                <a:latin typeface="Calibri"/>
                <a:ea typeface="DejaVu Sans"/>
              </a:rPr>
              <a:t>Intro to R for biologists</a:t>
            </a:r>
            <a:endParaRPr lang="en-GB" sz="3900" b="0" strike="noStrike" spc="-1">
              <a:latin typeface="Arial"/>
            </a:endParaRPr>
          </a:p>
        </p:txBody>
      </p:sp>
      <p:sp>
        <p:nvSpPr>
          <p:cNvPr id="231" name="CustomShape 2"/>
          <p:cNvSpPr/>
          <p:nvPr/>
        </p:nvSpPr>
        <p:spPr>
          <a:xfrm>
            <a:off x="4969080" y="1371600"/>
            <a:ext cx="3657600" cy="3451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marL="216000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Data exploration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Conditional execution (if-else)</a:t>
            </a: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Performing repetitive tasks (loops)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Basic plots to visualize data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Basic statistics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</a:rPr>
              <a:t>Installing and loading packages</a:t>
            </a:r>
            <a:endParaRPr lang="en-GB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</a:pPr>
            <a:endParaRPr lang="en-GB" sz="16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CustomShape 1"/>
          <p:cNvSpPr/>
          <p:nvPr/>
        </p:nvSpPr>
        <p:spPr>
          <a:xfrm>
            <a:off x="457200" y="68400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Math operations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33" name="CustomShape 2"/>
          <p:cNvSpPr/>
          <p:nvPr/>
        </p:nvSpPr>
        <p:spPr>
          <a:xfrm>
            <a:off x="457200" y="2359440"/>
            <a:ext cx="8227440" cy="3126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164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Add, subtract, divide, multiply</a:t>
            </a:r>
            <a:endParaRPr lang="en-GB" sz="2180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+ - / *</a:t>
            </a:r>
            <a:endParaRPr lang="en-GB" sz="2029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Modulo (remainder of division)</a:t>
            </a:r>
            <a:endParaRPr lang="en-GB" sz="2180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%%</a:t>
            </a:r>
            <a:endParaRPr lang="en-GB" sz="2029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Exponent</a:t>
            </a:r>
            <a:endParaRPr lang="en-GB" sz="2180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^</a:t>
            </a:r>
            <a:endParaRPr lang="en-GB" sz="2029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Rounding</a:t>
            </a:r>
            <a:endParaRPr lang="en-GB" sz="2180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round()</a:t>
            </a: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floor()</a:t>
            </a: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ceiling()</a:t>
            </a:r>
            <a:endParaRPr lang="en-GB" sz="2029" b="0" strike="noStrike" spc="-1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endParaRPr lang="en-GB" sz="2029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CustomShape 1"/>
          <p:cNvSpPr/>
          <p:nvPr/>
        </p:nvSpPr>
        <p:spPr>
          <a:xfrm>
            <a:off x="457200" y="2359440"/>
            <a:ext cx="3403080" cy="1403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00000"/>
              </a:lnSpc>
              <a:spcBef>
                <a:spcPts val="420"/>
              </a:spcBef>
              <a:tabLst>
                <a:tab pos="0" algn="l"/>
              </a:tabLst>
            </a:pPr>
            <a:r>
              <a:rPr lang="en-GB" sz="2100" b="0" strike="noStrike" spc="-1" dirty="0">
                <a:latin typeface="Courier New"/>
                <a:ea typeface="DejaVu Sans"/>
              </a:rPr>
              <a:t>if(CONDITION) </a:t>
            </a:r>
            <a:r>
              <a:rPr lang="en-GB" sz="2100" b="1" strike="noStrike" spc="-1" dirty="0">
                <a:latin typeface="Courier New"/>
                <a:ea typeface="DejaVu Sans"/>
              </a:rPr>
              <a:t>{</a:t>
            </a:r>
            <a:endParaRPr lang="en-GB" sz="21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tabLst>
                <a:tab pos="0" algn="l"/>
              </a:tabLst>
            </a:pPr>
            <a:r>
              <a:rPr lang="en-GB" sz="2100" b="0" strike="noStrike" spc="-1" dirty="0">
                <a:latin typeface="Courier New"/>
                <a:ea typeface="DejaVu Sans"/>
              </a:rPr>
              <a:t>	Do something</a:t>
            </a:r>
            <a:endParaRPr lang="en-GB" sz="21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tabLst>
                <a:tab pos="0" algn="l"/>
              </a:tabLst>
            </a:pPr>
            <a:r>
              <a:rPr lang="en-GB" sz="2100" b="1" strike="noStrike" spc="-1" dirty="0">
                <a:latin typeface="Courier New"/>
                <a:ea typeface="DejaVu Sans"/>
              </a:rPr>
              <a:t>} </a:t>
            </a:r>
            <a:endParaRPr lang="en-GB" sz="21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endParaRPr lang="en-GB" sz="2100" b="0" strike="noStrike" spc="-1" dirty="0">
              <a:latin typeface="Arial"/>
            </a:endParaRPr>
          </a:p>
        </p:txBody>
      </p:sp>
      <p:sp>
        <p:nvSpPr>
          <p:cNvPr id="235" name="CustomShape 2"/>
          <p:cNvSpPr/>
          <p:nvPr/>
        </p:nvSpPr>
        <p:spPr>
          <a:xfrm>
            <a:off x="548640" y="3901320"/>
            <a:ext cx="2741760" cy="193753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strike="noStrike" spc="-1" dirty="0">
                <a:latin typeface="Courier New"/>
                <a:ea typeface="DejaVu Sans"/>
              </a:rPr>
              <a:t>x &lt;- 4 </a:t>
            </a:r>
            <a:endParaRPr lang="en-GB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strike="noStrike" spc="-1" dirty="0">
                <a:latin typeface="Courier New"/>
                <a:ea typeface="DejaVu Sans"/>
              </a:rPr>
              <a:t>if(x &gt; 0) </a:t>
            </a:r>
            <a:r>
              <a:rPr lang="en-US" sz="2000" b="1" strike="noStrike" spc="-1" dirty="0">
                <a:latin typeface="Courier New"/>
                <a:ea typeface="DejaVu Sans"/>
              </a:rPr>
              <a:t>{</a:t>
            </a:r>
            <a:endParaRPr lang="en-GB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strike="noStrike" spc="-1" dirty="0">
                <a:latin typeface="Courier New"/>
                <a:ea typeface="DejaVu Sans"/>
              </a:rPr>
              <a:t>print("Positive number") </a:t>
            </a:r>
            <a:endParaRPr lang="en-GB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strike="noStrike" spc="-1" dirty="0">
                <a:latin typeface="Courier New"/>
                <a:ea typeface="DejaVu Sans"/>
              </a:rPr>
              <a:t>}</a:t>
            </a:r>
            <a:endParaRPr lang="en-GB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2000" b="0" strike="noStrike" spc="-1" dirty="0">
              <a:latin typeface="Arial"/>
            </a:endParaRPr>
          </a:p>
        </p:txBody>
      </p:sp>
      <p:sp>
        <p:nvSpPr>
          <p:cNvPr id="237" name="CustomShape 3"/>
          <p:cNvSpPr/>
          <p:nvPr/>
        </p:nvSpPr>
        <p:spPr>
          <a:xfrm>
            <a:off x="2024280" y="247680"/>
            <a:ext cx="5079240" cy="18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Conditionals</a:t>
            </a:r>
            <a:br>
              <a:rPr dirty="0"/>
            </a:br>
            <a:r>
              <a:rPr lang="en-US" sz="4400" b="1" strike="noStrike" spc="-1" dirty="0">
                <a:solidFill>
                  <a:schemeClr val="accent3"/>
                </a:solidFill>
                <a:latin typeface="Calibri"/>
                <a:ea typeface="DejaVu Sans"/>
              </a:rPr>
              <a:t>if</a:t>
            </a:r>
            <a:r>
              <a:rPr lang="en-US" sz="4400" b="1" strike="noStrike" spc="-1" dirty="0">
                <a:solidFill>
                  <a:srgbClr val="008000"/>
                </a:solidFill>
                <a:latin typeface="Calibri"/>
                <a:ea typeface="DejaVu Sans"/>
              </a:rPr>
              <a:t> </a:t>
            </a:r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statement</a:t>
            </a:r>
            <a:endParaRPr lang="en-GB" sz="4400" b="0" strike="noStrike" spc="-1" dirty="0">
              <a:latin typeface="Arial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8825748-E5F6-BFE6-D7B4-399713361979}"/>
              </a:ext>
            </a:extLst>
          </p:cNvPr>
          <p:cNvCxnSpPr>
            <a:cxnSpLocks/>
          </p:cNvCxnSpPr>
          <p:nvPr/>
        </p:nvCxnSpPr>
        <p:spPr>
          <a:xfrm>
            <a:off x="5833190" y="2195184"/>
            <a:ext cx="0" cy="381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iamond 2">
            <a:extLst>
              <a:ext uri="{FF2B5EF4-FFF2-40B4-BE49-F238E27FC236}">
                <a16:creationId xmlns:a16="http://schemas.microsoft.com/office/drawing/2014/main" id="{F7852D64-C045-F3F1-1189-49414960C359}"/>
              </a:ext>
            </a:extLst>
          </p:cNvPr>
          <p:cNvSpPr/>
          <p:nvPr/>
        </p:nvSpPr>
        <p:spPr>
          <a:xfrm>
            <a:off x="4828302" y="2657146"/>
            <a:ext cx="2009775" cy="476250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condition</a:t>
            </a:r>
          </a:p>
        </p:txBody>
      </p:sp>
      <p:sp>
        <p:nvSpPr>
          <p:cNvPr id="4" name="Bent Up Arrow 3">
            <a:extLst>
              <a:ext uri="{FF2B5EF4-FFF2-40B4-BE49-F238E27FC236}">
                <a16:creationId xmlns:a16="http://schemas.microsoft.com/office/drawing/2014/main" id="{D2B006DB-9157-D42F-E002-31F51B43C2F6}"/>
              </a:ext>
            </a:extLst>
          </p:cNvPr>
          <p:cNvSpPr/>
          <p:nvPr/>
        </p:nvSpPr>
        <p:spPr>
          <a:xfrm rot="10800000" flipH="1">
            <a:off x="6966665" y="2923845"/>
            <a:ext cx="142867" cy="715953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2AC41-C6EE-5526-A150-BFDF4085BCF0}"/>
              </a:ext>
            </a:extLst>
          </p:cNvPr>
          <p:cNvSpPr/>
          <p:nvPr/>
        </p:nvSpPr>
        <p:spPr>
          <a:xfrm>
            <a:off x="6385632" y="3701295"/>
            <a:ext cx="1447800" cy="4000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statement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1A5B526-0951-7E90-B19A-AF47B1E4FFD5}"/>
              </a:ext>
            </a:extLst>
          </p:cNvPr>
          <p:cNvCxnSpPr>
            <a:cxnSpLocks/>
          </p:cNvCxnSpPr>
          <p:nvPr/>
        </p:nvCxnSpPr>
        <p:spPr>
          <a:xfrm>
            <a:off x="5852239" y="3258799"/>
            <a:ext cx="0" cy="18834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Bent Up Arrow 6">
            <a:extLst>
              <a:ext uri="{FF2B5EF4-FFF2-40B4-BE49-F238E27FC236}">
                <a16:creationId xmlns:a16="http://schemas.microsoft.com/office/drawing/2014/main" id="{29505ECF-BCDF-AEFC-9364-742304E422E1}"/>
              </a:ext>
            </a:extLst>
          </p:cNvPr>
          <p:cNvSpPr/>
          <p:nvPr/>
        </p:nvSpPr>
        <p:spPr>
          <a:xfrm rot="16200000" flipH="1">
            <a:off x="6478527" y="3681879"/>
            <a:ext cx="147616" cy="1114401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458D75-7D08-2E3F-887D-672128CDCAB0}"/>
              </a:ext>
            </a:extLst>
          </p:cNvPr>
          <p:cNvSpPr txBox="1"/>
          <p:nvPr/>
        </p:nvSpPr>
        <p:spPr>
          <a:xfrm>
            <a:off x="7154858" y="3129489"/>
            <a:ext cx="853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921A18-52C6-5289-8D10-95AE717A9780}"/>
              </a:ext>
            </a:extLst>
          </p:cNvPr>
          <p:cNvSpPr txBox="1"/>
          <p:nvPr/>
        </p:nvSpPr>
        <p:spPr>
          <a:xfrm>
            <a:off x="6137787" y="2214624"/>
            <a:ext cx="5613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Nyala" panose="02000504070300020003" pitchFamily="2" charset="0"/>
                <a:cs typeface="KufiStandardGK" pitchFamily="2" charset="-78"/>
              </a:rPr>
              <a:t>?</a:t>
            </a:r>
            <a:endParaRPr lang="en-US" sz="2800" dirty="0">
              <a:latin typeface="Nyala" panose="02000504070300020003" pitchFamily="2" charset="0"/>
              <a:cs typeface="KufiStandardGK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994FCF-B677-BC9D-E8D1-AD869C1EE541}"/>
              </a:ext>
            </a:extLst>
          </p:cNvPr>
          <p:cNvSpPr txBox="1"/>
          <p:nvPr/>
        </p:nvSpPr>
        <p:spPr>
          <a:xfrm>
            <a:off x="3678885" y="2691677"/>
            <a:ext cx="1011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&lt;-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2FD3AD-6038-9998-4F45-E25FAECA6361}"/>
              </a:ext>
            </a:extLst>
          </p:cNvPr>
          <p:cNvSpPr txBox="1"/>
          <p:nvPr/>
        </p:nvSpPr>
        <p:spPr>
          <a:xfrm>
            <a:off x="4525338" y="5120864"/>
            <a:ext cx="2939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Positive number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03B528-0E11-CC43-3578-70A1428A650B}"/>
              </a:ext>
            </a:extLst>
          </p:cNvPr>
          <p:cNvSpPr/>
          <p:nvPr/>
        </p:nvSpPr>
        <p:spPr>
          <a:xfrm>
            <a:off x="6066656" y="3654254"/>
            <a:ext cx="3077344" cy="45071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print(“Positive number”)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/>
      <p:bldP spid="9" grpId="0"/>
      <p:bldP spid="10" grpId="0"/>
      <p:bldP spid="11" grpId="0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916DE73-25F0-81B8-DA63-B28A9A95AEFA}"/>
              </a:ext>
            </a:extLst>
          </p:cNvPr>
          <p:cNvSpPr/>
          <p:nvPr/>
        </p:nvSpPr>
        <p:spPr>
          <a:xfrm>
            <a:off x="628651" y="2728416"/>
            <a:ext cx="8216027" cy="811465"/>
          </a:xfrm>
          <a:prstGeom prst="rect">
            <a:avLst/>
          </a:prstGeom>
          <a:solidFill>
            <a:srgbClr val="FF0000">
              <a:alpha val="3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12BD51-56C9-474B-0647-0F5ACF3716D7}"/>
              </a:ext>
            </a:extLst>
          </p:cNvPr>
          <p:cNvSpPr/>
          <p:nvPr/>
        </p:nvSpPr>
        <p:spPr>
          <a:xfrm>
            <a:off x="628651" y="2175296"/>
            <a:ext cx="8216033" cy="539638"/>
          </a:xfrm>
          <a:prstGeom prst="rect">
            <a:avLst/>
          </a:prstGeom>
          <a:solidFill>
            <a:schemeClr val="accent3">
              <a:lumMod val="40000"/>
              <a:lumOff val="60000"/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highlight>
                <a:srgbClr val="008000"/>
              </a:highlight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D913976-6DAB-4116-82E7-37C962B02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231" y="2058736"/>
            <a:ext cx="8054866" cy="336470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sz="1500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if (condition) {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	do something			</a:t>
            </a:r>
            <a:r>
              <a:rPr lang="en-US" sz="1500" dirty="0">
                <a:latin typeface="+mj-lt"/>
                <a:ea typeface="Yu Gothic" panose="020B0400000000000000" pitchFamily="34" charset="-128"/>
                <a:cs typeface="Courier New" panose="02070309020205020404" pitchFamily="49" charset="0"/>
              </a:rPr>
              <a:t>if condition is true, this happens (TRUE branch)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 else { 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do something else 	   			</a:t>
            </a:r>
            <a:r>
              <a:rPr lang="en-US" sz="1500" dirty="0">
                <a:latin typeface="+mj-lt"/>
                <a:ea typeface="Yu Gothic" panose="020B0400000000000000" pitchFamily="34" charset="-128"/>
                <a:cs typeface="Courier New" panose="02070309020205020404" pitchFamily="49" charset="0"/>
              </a:rPr>
              <a:t>if condition is false, this happens (FALSE branch)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500" dirty="0">
              <a:latin typeface="Courier New" panose="02070309020205020404" pitchFamily="49" charset="0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x </a:t>
            </a:r>
            <a:r>
              <a:rPr lang="en-US" sz="16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&lt;- 4 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if (x &gt; 0) {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print(“Positive number”)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}else{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print(“Negative number”)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37B66B-7851-08DF-582D-6E795964AD96}"/>
              </a:ext>
            </a:extLst>
          </p:cNvPr>
          <p:cNvCxnSpPr>
            <a:cxnSpLocks/>
          </p:cNvCxnSpPr>
          <p:nvPr/>
        </p:nvCxnSpPr>
        <p:spPr>
          <a:xfrm>
            <a:off x="6443663" y="3704034"/>
            <a:ext cx="0" cy="2857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iamond 11">
            <a:extLst>
              <a:ext uri="{FF2B5EF4-FFF2-40B4-BE49-F238E27FC236}">
                <a16:creationId xmlns:a16="http://schemas.microsoft.com/office/drawing/2014/main" id="{6BDA872C-47AC-BAEA-33EE-12723AC735EC}"/>
              </a:ext>
            </a:extLst>
          </p:cNvPr>
          <p:cNvSpPr/>
          <p:nvPr/>
        </p:nvSpPr>
        <p:spPr>
          <a:xfrm>
            <a:off x="5689997" y="4050505"/>
            <a:ext cx="1507331" cy="357188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condition</a:t>
            </a:r>
            <a:endParaRPr lang="en-US" sz="1200" dirty="0"/>
          </a:p>
        </p:txBody>
      </p:sp>
      <p:sp>
        <p:nvSpPr>
          <p:cNvPr id="13" name="Bent Up Arrow 12">
            <a:extLst>
              <a:ext uri="{FF2B5EF4-FFF2-40B4-BE49-F238E27FC236}">
                <a16:creationId xmlns:a16="http://schemas.microsoft.com/office/drawing/2014/main" id="{36F554AE-5E74-BF0C-01F7-95752B8D0575}"/>
              </a:ext>
            </a:extLst>
          </p:cNvPr>
          <p:cNvSpPr/>
          <p:nvPr/>
        </p:nvSpPr>
        <p:spPr>
          <a:xfrm rot="10800000" flipH="1">
            <a:off x="7293769" y="4250530"/>
            <a:ext cx="107153" cy="482204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BE1425-D17B-3907-C7C6-4DD1CBB67A82}"/>
              </a:ext>
            </a:extLst>
          </p:cNvPr>
          <p:cNvSpPr/>
          <p:nvPr/>
        </p:nvSpPr>
        <p:spPr>
          <a:xfrm>
            <a:off x="6750844" y="4787495"/>
            <a:ext cx="1085850" cy="30003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statement A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A98140B-6F69-D447-150A-BA2522DAB661}"/>
              </a:ext>
            </a:extLst>
          </p:cNvPr>
          <p:cNvCxnSpPr>
            <a:cxnSpLocks/>
          </p:cNvCxnSpPr>
          <p:nvPr/>
        </p:nvCxnSpPr>
        <p:spPr>
          <a:xfrm>
            <a:off x="6457949" y="4501746"/>
            <a:ext cx="0" cy="14126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Bent Up Arrow 16">
            <a:extLst>
              <a:ext uri="{FF2B5EF4-FFF2-40B4-BE49-F238E27FC236}">
                <a16:creationId xmlns:a16="http://schemas.microsoft.com/office/drawing/2014/main" id="{BD1A03BD-F221-A08F-E8C1-F1944D3B2E1D}"/>
              </a:ext>
            </a:extLst>
          </p:cNvPr>
          <p:cNvSpPr/>
          <p:nvPr/>
        </p:nvSpPr>
        <p:spPr>
          <a:xfrm rot="16200000" flipH="1">
            <a:off x="6927665" y="4819056"/>
            <a:ext cx="110712" cy="835801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Bent Up Arrow 17">
            <a:extLst>
              <a:ext uri="{FF2B5EF4-FFF2-40B4-BE49-F238E27FC236}">
                <a16:creationId xmlns:a16="http://schemas.microsoft.com/office/drawing/2014/main" id="{5A688E33-7708-F3C4-1018-5AE84DE51681}"/>
              </a:ext>
            </a:extLst>
          </p:cNvPr>
          <p:cNvSpPr/>
          <p:nvPr/>
        </p:nvSpPr>
        <p:spPr>
          <a:xfrm rot="10800000">
            <a:off x="5492816" y="4275533"/>
            <a:ext cx="84295" cy="482204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F059D3-2151-D036-6EC5-21D0BD8AEF26}"/>
              </a:ext>
            </a:extLst>
          </p:cNvPr>
          <p:cNvSpPr/>
          <p:nvPr/>
        </p:nvSpPr>
        <p:spPr>
          <a:xfrm>
            <a:off x="4992038" y="4798813"/>
            <a:ext cx="1085850" cy="30003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statement 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33DBB3-07FA-015F-23EB-8327ED14ED4A}"/>
              </a:ext>
            </a:extLst>
          </p:cNvPr>
          <p:cNvSpPr txBox="1"/>
          <p:nvPr/>
        </p:nvSpPr>
        <p:spPr>
          <a:xfrm>
            <a:off x="4789593" y="4296803"/>
            <a:ext cx="72334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594C0B-EB05-D736-EF70-52DB0A8A4BCA}"/>
              </a:ext>
            </a:extLst>
          </p:cNvPr>
          <p:cNvSpPr txBox="1"/>
          <p:nvPr/>
        </p:nvSpPr>
        <p:spPr>
          <a:xfrm>
            <a:off x="7400922" y="4323898"/>
            <a:ext cx="65594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24" name="Bent Up Arrow 23">
            <a:extLst>
              <a:ext uri="{FF2B5EF4-FFF2-40B4-BE49-F238E27FC236}">
                <a16:creationId xmlns:a16="http://schemas.microsoft.com/office/drawing/2014/main" id="{E5A1C96B-C5F1-BE14-CE24-21A205F8B961}"/>
              </a:ext>
            </a:extLst>
          </p:cNvPr>
          <p:cNvSpPr/>
          <p:nvPr/>
        </p:nvSpPr>
        <p:spPr>
          <a:xfrm rot="16200000" flipH="1" flipV="1">
            <a:off x="5865497" y="4808437"/>
            <a:ext cx="113093" cy="857468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761792-19BF-CB0B-7197-59AEDF625B7B}"/>
              </a:ext>
            </a:extLst>
          </p:cNvPr>
          <p:cNvSpPr txBox="1"/>
          <p:nvPr/>
        </p:nvSpPr>
        <p:spPr>
          <a:xfrm>
            <a:off x="6727422" y="3706000"/>
            <a:ext cx="46679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atin typeface="Nyala" panose="02000504070300020003" pitchFamily="2" charset="0"/>
                <a:cs typeface="KufiStandardGK" pitchFamily="2" charset="-78"/>
              </a:rPr>
              <a:t>?</a:t>
            </a:r>
            <a:endParaRPr lang="en-US" sz="2100" dirty="0">
              <a:latin typeface="Nyala" panose="02000504070300020003" pitchFamily="2" charset="0"/>
              <a:cs typeface="KufiStandardGK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1F9F4C-1A7F-8F00-4110-CDD729B76071}"/>
              </a:ext>
            </a:extLst>
          </p:cNvPr>
          <p:cNvSpPr txBox="1"/>
          <p:nvPr/>
        </p:nvSpPr>
        <p:spPr>
          <a:xfrm>
            <a:off x="7011473" y="3840877"/>
            <a:ext cx="935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x </a:t>
            </a:r>
            <a:r>
              <a:rPr lang="en-US" sz="1400" spc="-1" dirty="0">
                <a:solidFill>
                  <a:srgbClr val="000000"/>
                </a:solidFill>
                <a:latin typeface="Courier New"/>
              </a:rPr>
              <a:t>&lt;- 4 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200932-68EC-B727-CA93-69E7DE268DC7}"/>
              </a:ext>
            </a:extLst>
          </p:cNvPr>
          <p:cNvSpPr/>
          <p:nvPr/>
        </p:nvSpPr>
        <p:spPr>
          <a:xfrm>
            <a:off x="6616954" y="4752198"/>
            <a:ext cx="2279576" cy="33803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print(“Positive number”)</a:t>
            </a:r>
            <a:endParaRPr lang="en-US" sz="9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769E39-8BB9-D0C6-E869-AA28EC1E460C}"/>
              </a:ext>
            </a:extLst>
          </p:cNvPr>
          <p:cNvSpPr/>
          <p:nvPr/>
        </p:nvSpPr>
        <p:spPr>
          <a:xfrm>
            <a:off x="4073063" y="4778813"/>
            <a:ext cx="2279576" cy="33803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print(“Negative number”)</a:t>
            </a:r>
            <a:endParaRPr lang="en-US" sz="9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D42903-DE4B-307D-8BA4-0892040FAA25}"/>
              </a:ext>
            </a:extLst>
          </p:cNvPr>
          <p:cNvSpPr/>
          <p:nvPr/>
        </p:nvSpPr>
        <p:spPr>
          <a:xfrm>
            <a:off x="3949735" y="3741089"/>
            <a:ext cx="2428679" cy="2210336"/>
          </a:xfrm>
          <a:prstGeom prst="rect">
            <a:avLst/>
          </a:prstGeom>
          <a:solidFill>
            <a:srgbClr val="FF0000">
              <a:alpha val="14000"/>
            </a:srgb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63854D-42CF-A8D0-8D07-B47BDA8391BF}"/>
              </a:ext>
            </a:extLst>
          </p:cNvPr>
          <p:cNvSpPr txBox="1"/>
          <p:nvPr/>
        </p:nvSpPr>
        <p:spPr>
          <a:xfrm>
            <a:off x="3929854" y="5658774"/>
            <a:ext cx="243534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else block (FALSE BRANCH)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6EEF74-D198-80A3-5480-9C7620CE1C98}"/>
              </a:ext>
            </a:extLst>
          </p:cNvPr>
          <p:cNvSpPr/>
          <p:nvPr/>
        </p:nvSpPr>
        <p:spPr>
          <a:xfrm>
            <a:off x="6493372" y="3708435"/>
            <a:ext cx="2428679" cy="2210336"/>
          </a:xfrm>
          <a:prstGeom prst="rect">
            <a:avLst/>
          </a:prstGeom>
          <a:solidFill>
            <a:schemeClr val="accent3">
              <a:lumMod val="60000"/>
              <a:lumOff val="40000"/>
              <a:alpha val="33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666649-0B59-D037-DDE5-D26623F7A419}"/>
              </a:ext>
            </a:extLst>
          </p:cNvPr>
          <p:cNvSpPr txBox="1"/>
          <p:nvPr/>
        </p:nvSpPr>
        <p:spPr>
          <a:xfrm>
            <a:off x="6953371" y="5636379"/>
            <a:ext cx="214674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If block (TRUE BRANCH)</a:t>
            </a:r>
          </a:p>
        </p:txBody>
      </p:sp>
      <p:sp>
        <p:nvSpPr>
          <p:cNvPr id="27" name="CustomShape 1">
            <a:extLst>
              <a:ext uri="{FF2B5EF4-FFF2-40B4-BE49-F238E27FC236}">
                <a16:creationId xmlns:a16="http://schemas.microsoft.com/office/drawing/2014/main" id="{A13CA824-935D-261E-C70E-21F81B6E5D90}"/>
              </a:ext>
            </a:extLst>
          </p:cNvPr>
          <p:cNvSpPr/>
          <p:nvPr/>
        </p:nvSpPr>
        <p:spPr>
          <a:xfrm>
            <a:off x="2024280" y="247680"/>
            <a:ext cx="5079240" cy="18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Conditionals</a:t>
            </a:r>
            <a:br>
              <a:rPr dirty="0"/>
            </a:br>
            <a:r>
              <a:rPr lang="en-US" sz="4400" b="1" strike="noStrike" spc="-1" dirty="0">
                <a:solidFill>
                  <a:schemeClr val="accent3"/>
                </a:solidFill>
                <a:latin typeface="Calibri"/>
                <a:ea typeface="DejaVu Sans"/>
              </a:rPr>
              <a:t>if … </a:t>
            </a:r>
            <a:r>
              <a:rPr lang="en-US" sz="4400" b="1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else</a:t>
            </a:r>
            <a:r>
              <a:rPr lang="en-US" sz="4400" b="1" strike="noStrike" spc="-1" dirty="0">
                <a:solidFill>
                  <a:srgbClr val="008000"/>
                </a:solidFill>
                <a:latin typeface="Calibri"/>
                <a:ea typeface="DejaVu Sans"/>
              </a:rPr>
              <a:t> </a:t>
            </a:r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statement</a:t>
            </a:r>
            <a:endParaRPr lang="en-GB" sz="44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7383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6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1" grpId="0"/>
      <p:bldP spid="22" grpId="0"/>
      <p:bldP spid="24" grpId="0" animBg="1"/>
      <p:bldP spid="3" grpId="0"/>
      <p:bldP spid="3" grpId="1"/>
      <p:bldP spid="3" grpId="2"/>
      <p:bldP spid="3" grpId="3"/>
      <p:bldP spid="8" grpId="0"/>
      <p:bldP spid="8" grpId="1"/>
      <p:bldP spid="9" grpId="0" animBg="1"/>
      <p:bldP spid="9" grpId="1" animBg="1"/>
      <p:bldP spid="11" grpId="0" animBg="1"/>
      <p:bldP spid="11" grpId="1" animBg="1"/>
      <p:bldP spid="16" grpId="0" animBg="1"/>
      <p:bldP spid="23" grpId="0"/>
      <p:bldP spid="25" grpId="0" animBg="1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A25C7B1-3362-A6D8-1C0A-2CCAFB6D0789}"/>
              </a:ext>
            </a:extLst>
          </p:cNvPr>
          <p:cNvSpPr/>
          <p:nvPr/>
        </p:nvSpPr>
        <p:spPr>
          <a:xfrm>
            <a:off x="603003" y="3329747"/>
            <a:ext cx="8282339" cy="861400"/>
          </a:xfrm>
          <a:prstGeom prst="rect">
            <a:avLst/>
          </a:prstGeom>
          <a:solidFill>
            <a:schemeClr val="accent1">
              <a:lumMod val="40000"/>
              <a:lumOff val="60000"/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6D7813-CD3C-5ABC-EF63-25C54BF65E41}"/>
              </a:ext>
            </a:extLst>
          </p:cNvPr>
          <p:cNvSpPr/>
          <p:nvPr/>
        </p:nvSpPr>
        <p:spPr>
          <a:xfrm>
            <a:off x="610857" y="2702208"/>
            <a:ext cx="8274485" cy="636336"/>
          </a:xfrm>
          <a:prstGeom prst="rect">
            <a:avLst/>
          </a:prstGeom>
          <a:solidFill>
            <a:srgbClr val="FF0000">
              <a:alpha val="3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E8B4D8-2535-BA77-85D7-EAD54DF9F978}"/>
              </a:ext>
            </a:extLst>
          </p:cNvPr>
          <p:cNvSpPr/>
          <p:nvPr/>
        </p:nvSpPr>
        <p:spPr>
          <a:xfrm>
            <a:off x="613513" y="2061082"/>
            <a:ext cx="8274485" cy="636336"/>
          </a:xfrm>
          <a:prstGeom prst="rect">
            <a:avLst/>
          </a:prstGeom>
          <a:solidFill>
            <a:schemeClr val="accent3">
              <a:lumMod val="40000"/>
              <a:lumOff val="60000"/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4F660B-975C-EF06-151E-9C027A7B6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1407" y="570311"/>
            <a:ext cx="8229240" cy="1144800"/>
          </a:xfrm>
        </p:spPr>
        <p:txBody>
          <a:bodyPr/>
          <a:lstStyle/>
          <a:p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Chained conditionals</a:t>
            </a:r>
            <a:br>
              <a:rPr lang="en-US" dirty="0"/>
            </a:br>
            <a:r>
              <a:rPr lang="en-US" sz="4400" b="1" strike="noStrike" spc="-1" dirty="0">
                <a:solidFill>
                  <a:schemeClr val="accent3"/>
                </a:solidFill>
                <a:latin typeface="Calibri"/>
                <a:ea typeface="DejaVu Sans"/>
              </a:rPr>
              <a:t>if … </a:t>
            </a:r>
            <a:r>
              <a:rPr lang="en-US" sz="4400" b="1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else if … </a:t>
            </a:r>
            <a:r>
              <a:rPr lang="en-US" sz="4400" b="1" strike="noStrike" spc="-1" dirty="0">
                <a:solidFill>
                  <a:srgbClr val="0000FF"/>
                </a:solidFill>
                <a:latin typeface="Calibri"/>
                <a:ea typeface="DejaVu Sans"/>
              </a:rPr>
              <a:t>else</a:t>
            </a:r>
            <a:br>
              <a:rPr lang="en-US" sz="4400" b="0" strike="noStrike" spc="-1" dirty="0">
                <a:latin typeface="Arial"/>
              </a:rPr>
            </a:b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D913976-6DAB-4116-82E7-37C962B02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077" y="1552618"/>
            <a:ext cx="7886700" cy="271995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if (condition A is TRUE) {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	do something (statement A)		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 else if (condition B is TRUE) {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	do something else (statement B)	   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 else {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	do something else (statement C)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100" dirty="0">
              <a:latin typeface="Courier New" panose="02070309020205020404" pitchFamily="49" charset="0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4400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50AF4F-66A8-F3AD-D427-3C05A794B4A8}"/>
              </a:ext>
            </a:extLst>
          </p:cNvPr>
          <p:cNvSpPr txBox="1"/>
          <p:nvPr/>
        </p:nvSpPr>
        <p:spPr>
          <a:xfrm>
            <a:off x="5231163" y="3054751"/>
            <a:ext cx="373371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New condition to test if previous one was false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303CF3-FEE0-79FB-C284-337131322C0A}"/>
              </a:ext>
            </a:extLst>
          </p:cNvPr>
          <p:cNvSpPr txBox="1"/>
          <p:nvPr/>
        </p:nvSpPr>
        <p:spPr>
          <a:xfrm>
            <a:off x="5184818" y="2411762"/>
            <a:ext cx="379155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If first condition is true, statement A is executed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B5B6B9-11B9-A227-BD5D-D1E1107B527E}"/>
              </a:ext>
            </a:extLst>
          </p:cNvPr>
          <p:cNvSpPr txBox="1"/>
          <p:nvPr/>
        </p:nvSpPr>
        <p:spPr>
          <a:xfrm>
            <a:off x="5019566" y="3712167"/>
            <a:ext cx="394531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False branch. </a:t>
            </a:r>
          </a:p>
          <a:p>
            <a:r>
              <a:rPr lang="en-US" sz="1350" dirty="0"/>
              <a:t>Executed if none of the conditions above are true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EA57EC-E904-D77F-C5A5-CDD9F3DCAD03}"/>
              </a:ext>
            </a:extLst>
          </p:cNvPr>
          <p:cNvSpPr txBox="1"/>
          <p:nvPr/>
        </p:nvSpPr>
        <p:spPr>
          <a:xfrm>
            <a:off x="515007" y="4466143"/>
            <a:ext cx="521313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x = 0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if (x &gt; 0) 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print(“Positive number”)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}else if (x &lt; 0){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print(“Negative number”)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 else 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print(“Zero”)</a:t>
            </a:r>
          </a:p>
        </p:txBody>
      </p:sp>
    </p:spTree>
    <p:extLst>
      <p:ext uri="{BB962C8B-B14F-4D97-AF65-F5344CB8AC3E}">
        <p14:creationId xmlns:p14="http://schemas.microsoft.com/office/powerpoint/2010/main" val="2482569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A25C7B1-3362-A6D8-1C0A-2CCAFB6D0789}"/>
              </a:ext>
            </a:extLst>
          </p:cNvPr>
          <p:cNvSpPr/>
          <p:nvPr/>
        </p:nvSpPr>
        <p:spPr>
          <a:xfrm>
            <a:off x="628649" y="3264694"/>
            <a:ext cx="4056117" cy="837970"/>
          </a:xfrm>
          <a:prstGeom prst="rect">
            <a:avLst/>
          </a:prstGeom>
          <a:solidFill>
            <a:schemeClr val="tx2">
              <a:lumMod val="40000"/>
              <a:lumOff val="60000"/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6D7813-CD3C-5ABC-EF63-25C54BF65E41}"/>
              </a:ext>
            </a:extLst>
          </p:cNvPr>
          <p:cNvSpPr/>
          <p:nvPr/>
        </p:nvSpPr>
        <p:spPr>
          <a:xfrm>
            <a:off x="628649" y="2764634"/>
            <a:ext cx="4056117" cy="500060"/>
          </a:xfrm>
          <a:prstGeom prst="rect">
            <a:avLst/>
          </a:prstGeom>
          <a:solidFill>
            <a:srgbClr val="FF0000">
              <a:alpha val="3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E8B4D8-2535-BA77-85D7-EAD54DF9F978}"/>
              </a:ext>
            </a:extLst>
          </p:cNvPr>
          <p:cNvSpPr/>
          <p:nvPr/>
        </p:nvSpPr>
        <p:spPr>
          <a:xfrm>
            <a:off x="628649" y="2257429"/>
            <a:ext cx="4056117" cy="500060"/>
          </a:xfrm>
          <a:prstGeom prst="rect">
            <a:avLst/>
          </a:prstGeom>
          <a:solidFill>
            <a:schemeClr val="accent3">
              <a:lumMod val="40000"/>
              <a:lumOff val="60000"/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D913976-6DAB-4116-82E7-37C962B02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690" y="1891189"/>
            <a:ext cx="7886701" cy="416379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950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if (condition A is TRUE) {</a:t>
            </a: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	do something (statement A)	</a:t>
            </a: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 else if (condition B is TRUE) {</a:t>
            </a: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	do something else (statement B)	   </a:t>
            </a: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 else {</a:t>
            </a: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	do something else (statement C)</a:t>
            </a: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</a:t>
            </a:r>
            <a:endParaRPr lang="en-US" sz="900" dirty="0">
              <a:latin typeface="Courier New" panose="02070309020205020404" pitchFamily="49" charset="0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013B389-5C6F-F010-E27B-3BC91039B773}"/>
              </a:ext>
            </a:extLst>
          </p:cNvPr>
          <p:cNvCxnSpPr>
            <a:cxnSpLocks/>
          </p:cNvCxnSpPr>
          <p:nvPr/>
        </p:nvCxnSpPr>
        <p:spPr>
          <a:xfrm>
            <a:off x="5842722" y="1918327"/>
            <a:ext cx="0" cy="2857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iamond 4">
            <a:extLst>
              <a:ext uri="{FF2B5EF4-FFF2-40B4-BE49-F238E27FC236}">
                <a16:creationId xmlns:a16="http://schemas.microsoft.com/office/drawing/2014/main" id="{D58B56E6-19A1-34FE-3BB0-A2CD5695975C}"/>
              </a:ext>
            </a:extLst>
          </p:cNvPr>
          <p:cNvSpPr/>
          <p:nvPr/>
        </p:nvSpPr>
        <p:spPr>
          <a:xfrm>
            <a:off x="5089057" y="2264798"/>
            <a:ext cx="1507331" cy="357188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Condition A</a:t>
            </a:r>
          </a:p>
        </p:txBody>
      </p:sp>
      <p:sp>
        <p:nvSpPr>
          <p:cNvPr id="7" name="Bent Up Arrow 6">
            <a:extLst>
              <a:ext uri="{FF2B5EF4-FFF2-40B4-BE49-F238E27FC236}">
                <a16:creationId xmlns:a16="http://schemas.microsoft.com/office/drawing/2014/main" id="{EAA53509-6CFF-BCBF-5902-BDA178EE994B}"/>
              </a:ext>
            </a:extLst>
          </p:cNvPr>
          <p:cNvSpPr/>
          <p:nvPr/>
        </p:nvSpPr>
        <p:spPr>
          <a:xfrm rot="10800000" flipH="1">
            <a:off x="6703786" y="2460335"/>
            <a:ext cx="2068739" cy="71858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58A256-3459-91E0-C674-5FF74B279E40}"/>
              </a:ext>
            </a:extLst>
          </p:cNvPr>
          <p:cNvSpPr/>
          <p:nvPr/>
        </p:nvSpPr>
        <p:spPr>
          <a:xfrm>
            <a:off x="8056507" y="2532193"/>
            <a:ext cx="1085850" cy="3000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statement 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27A010-499B-8917-A6D2-67B4AF6224EA}"/>
              </a:ext>
            </a:extLst>
          </p:cNvPr>
          <p:cNvSpPr/>
          <p:nvPr/>
        </p:nvSpPr>
        <p:spPr>
          <a:xfrm>
            <a:off x="7583377" y="3360805"/>
            <a:ext cx="1085850" cy="30003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statement 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5CB3DC-1A2B-CB31-D824-DCBB2B2A7417}"/>
              </a:ext>
            </a:extLst>
          </p:cNvPr>
          <p:cNvSpPr txBox="1"/>
          <p:nvPr/>
        </p:nvSpPr>
        <p:spPr>
          <a:xfrm>
            <a:off x="7300270" y="2313832"/>
            <a:ext cx="655949" cy="3000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TRUE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C8AC3F1-3BFF-E057-EA23-8765D47DD3F2}"/>
              </a:ext>
            </a:extLst>
          </p:cNvPr>
          <p:cNvCxnSpPr>
            <a:cxnSpLocks/>
          </p:cNvCxnSpPr>
          <p:nvPr/>
        </p:nvCxnSpPr>
        <p:spPr>
          <a:xfrm>
            <a:off x="6682465" y="3510824"/>
            <a:ext cx="8327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amond 25">
            <a:extLst>
              <a:ext uri="{FF2B5EF4-FFF2-40B4-BE49-F238E27FC236}">
                <a16:creationId xmlns:a16="http://schemas.microsoft.com/office/drawing/2014/main" id="{6CE88AA1-0594-12CD-1558-59808BDA7358}"/>
              </a:ext>
            </a:extLst>
          </p:cNvPr>
          <p:cNvSpPr/>
          <p:nvPr/>
        </p:nvSpPr>
        <p:spPr>
          <a:xfrm>
            <a:off x="5086961" y="3333397"/>
            <a:ext cx="1507331" cy="369212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Condition B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0F6F9DB-21E7-6287-5BCB-ABC55DAF9ECF}"/>
              </a:ext>
            </a:extLst>
          </p:cNvPr>
          <p:cNvCxnSpPr>
            <a:cxnSpLocks/>
          </p:cNvCxnSpPr>
          <p:nvPr/>
        </p:nvCxnSpPr>
        <p:spPr>
          <a:xfrm>
            <a:off x="5840626" y="2734895"/>
            <a:ext cx="2096" cy="5297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1D39FB3-6F20-9B5E-2C94-A81541196FF5}"/>
              </a:ext>
            </a:extLst>
          </p:cNvPr>
          <p:cNvSpPr txBox="1"/>
          <p:nvPr/>
        </p:nvSpPr>
        <p:spPr>
          <a:xfrm>
            <a:off x="5568243" y="2814878"/>
            <a:ext cx="723340" cy="3000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FALSE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356807D-AAC8-B671-229E-1D83359CD09D}"/>
              </a:ext>
            </a:extLst>
          </p:cNvPr>
          <p:cNvCxnSpPr>
            <a:cxnSpLocks/>
          </p:cNvCxnSpPr>
          <p:nvPr/>
        </p:nvCxnSpPr>
        <p:spPr>
          <a:xfrm>
            <a:off x="5840626" y="3790827"/>
            <a:ext cx="2096" cy="5297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43B96D0-49E4-541A-293E-EF20C7A2CD70}"/>
              </a:ext>
            </a:extLst>
          </p:cNvPr>
          <p:cNvSpPr txBox="1"/>
          <p:nvPr/>
        </p:nvSpPr>
        <p:spPr>
          <a:xfrm>
            <a:off x="5568243" y="3870810"/>
            <a:ext cx="723340" cy="3000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0850F0-6AFF-7805-B03C-67AB30A56AFB}"/>
              </a:ext>
            </a:extLst>
          </p:cNvPr>
          <p:cNvSpPr txBox="1"/>
          <p:nvPr/>
        </p:nvSpPr>
        <p:spPr>
          <a:xfrm>
            <a:off x="6798340" y="3372324"/>
            <a:ext cx="655949" cy="3000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16E20E4-F9A7-EEE5-A8E3-B03B2EF84EE1}"/>
              </a:ext>
            </a:extLst>
          </p:cNvPr>
          <p:cNvSpPr/>
          <p:nvPr/>
        </p:nvSpPr>
        <p:spPr>
          <a:xfrm>
            <a:off x="5380727" y="4384384"/>
            <a:ext cx="1085850" cy="3000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statement C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8D58B86-5EEF-C2F1-D28D-26FB60E9FC46}"/>
              </a:ext>
            </a:extLst>
          </p:cNvPr>
          <p:cNvCxnSpPr>
            <a:cxnSpLocks/>
          </p:cNvCxnSpPr>
          <p:nvPr/>
        </p:nvCxnSpPr>
        <p:spPr>
          <a:xfrm>
            <a:off x="5838529" y="4740375"/>
            <a:ext cx="2096" cy="11013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BA86CB0-C78E-8039-1117-E82A6E6B4A6B}"/>
              </a:ext>
            </a:extLst>
          </p:cNvPr>
          <p:cNvCxnSpPr>
            <a:cxnSpLocks/>
          </p:cNvCxnSpPr>
          <p:nvPr/>
        </p:nvCxnSpPr>
        <p:spPr>
          <a:xfrm>
            <a:off x="8772525" y="2861604"/>
            <a:ext cx="0" cy="24093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7640A4F-DDCD-CB6F-C882-12B9CFB2D5F1}"/>
              </a:ext>
            </a:extLst>
          </p:cNvPr>
          <p:cNvCxnSpPr>
            <a:cxnSpLocks/>
          </p:cNvCxnSpPr>
          <p:nvPr/>
        </p:nvCxnSpPr>
        <p:spPr>
          <a:xfrm>
            <a:off x="8126302" y="3642179"/>
            <a:ext cx="0" cy="16288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2B7C8A7-6FFC-1FD8-970D-CA72F3D60905}"/>
              </a:ext>
            </a:extLst>
          </p:cNvPr>
          <p:cNvCxnSpPr>
            <a:cxnSpLocks/>
          </p:cNvCxnSpPr>
          <p:nvPr/>
        </p:nvCxnSpPr>
        <p:spPr>
          <a:xfrm flipH="1">
            <a:off x="5838530" y="5266185"/>
            <a:ext cx="2944633" cy="96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B49B2B6-74CA-8C10-E17A-5F9517DA99D2}"/>
              </a:ext>
            </a:extLst>
          </p:cNvPr>
          <p:cNvSpPr txBox="1"/>
          <p:nvPr/>
        </p:nvSpPr>
        <p:spPr>
          <a:xfrm>
            <a:off x="628649" y="4389899"/>
            <a:ext cx="521313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x = 0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if (x &gt; 0) 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print(“Positive number”)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}else if (x &lt; 0){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print(“Negative number”)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 else 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print(“Zero”)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15F7827-B630-FDA8-96AB-E05A1ABB05A3}"/>
              </a:ext>
            </a:extLst>
          </p:cNvPr>
          <p:cNvSpPr txBox="1">
            <a:spLocks/>
          </p:cNvSpPr>
          <p:nvPr/>
        </p:nvSpPr>
        <p:spPr>
          <a:xfrm>
            <a:off x="2191407" y="570311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spc="-1">
                <a:solidFill>
                  <a:srgbClr val="000000"/>
                </a:solidFill>
                <a:latin typeface="Calibri"/>
                <a:ea typeface="DejaVu Sans"/>
              </a:rPr>
              <a:t>Chained conditionals</a:t>
            </a:r>
            <a:br>
              <a:rPr lang="en-US"/>
            </a:br>
            <a:r>
              <a:rPr lang="en-US" b="1" spc="-1">
                <a:solidFill>
                  <a:schemeClr val="accent3"/>
                </a:solidFill>
                <a:latin typeface="Calibri"/>
                <a:ea typeface="DejaVu Sans"/>
              </a:rPr>
              <a:t>if … </a:t>
            </a:r>
            <a:r>
              <a:rPr lang="en-US" b="1" spc="-1">
                <a:solidFill>
                  <a:srgbClr val="FF0000"/>
                </a:solidFill>
                <a:latin typeface="Calibri"/>
                <a:ea typeface="DejaVu Sans"/>
              </a:rPr>
              <a:t>else if … </a:t>
            </a:r>
            <a:r>
              <a:rPr lang="en-US" b="1" spc="-1">
                <a:solidFill>
                  <a:srgbClr val="0000FF"/>
                </a:solidFill>
                <a:latin typeface="Calibri"/>
                <a:ea typeface="DejaVu Sans"/>
              </a:rPr>
              <a:t>else</a:t>
            </a:r>
            <a:br>
              <a:rPr lang="en-US" spc="-1">
                <a:latin typeface="Arial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054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8" grpId="0" animBg="1"/>
      <p:bldP spid="10" grpId="0" animBg="1"/>
      <p:bldP spid="5" grpId="0" animBg="1"/>
      <p:bldP spid="7" grpId="0" animBg="1"/>
      <p:bldP spid="14" grpId="0" animBg="1"/>
      <p:bldP spid="18" grpId="0" animBg="1"/>
      <p:bldP spid="21" grpId="0" animBg="1"/>
      <p:bldP spid="26" grpId="0" animBg="1"/>
      <p:bldP spid="20" grpId="0" animBg="1"/>
      <p:bldP spid="31" grpId="0" animBg="1"/>
      <p:bldP spid="33" grpId="0" animBg="1"/>
      <p:bldP spid="3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1"/>
          <p:cNvSpPr/>
          <p:nvPr/>
        </p:nvSpPr>
        <p:spPr>
          <a:xfrm>
            <a:off x="383628" y="146984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Loops</a:t>
            </a:r>
            <a:br>
              <a:rPr dirty="0"/>
            </a:b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249" name="CustomShape 2"/>
          <p:cNvSpPr/>
          <p:nvPr/>
        </p:nvSpPr>
        <p:spPr>
          <a:xfrm>
            <a:off x="457200" y="2359440"/>
            <a:ext cx="8227440" cy="3126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>
              <a:lnSpc>
                <a:spcPct val="100000"/>
              </a:lnSpc>
              <a:spcBef>
                <a:spcPts val="434"/>
              </a:spcBef>
            </a:pP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lang="en-GB" sz="1800" b="0" strike="noStrike" spc="-1">
              <a:latin typeface="Arial"/>
            </a:endParaRPr>
          </a:p>
        </p:txBody>
      </p:sp>
      <p:sp>
        <p:nvSpPr>
          <p:cNvPr id="251" name="CustomShape 3"/>
          <p:cNvSpPr/>
          <p:nvPr/>
        </p:nvSpPr>
        <p:spPr>
          <a:xfrm>
            <a:off x="1023510" y="3109564"/>
            <a:ext cx="4570560" cy="118692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for (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val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in sequence)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{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statement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lang="en-GB" sz="1800" b="0" strike="noStrike" spc="-1" dirty="0">
              <a:latin typeface="Arial"/>
            </a:endParaRPr>
          </a:p>
        </p:txBody>
      </p:sp>
      <p:sp>
        <p:nvSpPr>
          <p:cNvPr id="252" name="CustomShape 4"/>
          <p:cNvSpPr/>
          <p:nvPr/>
        </p:nvSpPr>
        <p:spPr>
          <a:xfrm>
            <a:off x="544443" y="4822093"/>
            <a:ext cx="5115240" cy="1461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for (year in c(2011,2012,2013,2014,2015</a:t>
            </a:r>
            <a:r>
              <a:rPr lang="ru-RU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,2016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)) 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{	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 print(paste("The year is", year))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}	</a:t>
            </a:r>
            <a:endParaRPr lang="en-GB" sz="1800" b="0" strike="noStrike" spc="-1" dirty="0"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50167-09E6-A2D3-EE6E-D7B069C8F00E}"/>
              </a:ext>
            </a:extLst>
          </p:cNvPr>
          <p:cNvSpPr txBox="1"/>
          <p:nvPr/>
        </p:nvSpPr>
        <p:spPr>
          <a:xfrm>
            <a:off x="519839" y="1520710"/>
            <a:ext cx="573381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  <a:ea typeface="Yu Gothic" panose="020B0400000000000000" pitchFamily="34" charset="-128"/>
                <a:cs typeface="Courier New" panose="02070309020205020404" pitchFamily="49" charset="0"/>
              </a:rPr>
              <a:t>- Used to iterate over a sequence.</a:t>
            </a:r>
          </a:p>
          <a:p>
            <a:endParaRPr lang="en-US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r>
              <a:rPr lang="en-US" dirty="0">
                <a:latin typeface="+mj-lt"/>
                <a:ea typeface="Yu Gothic" panose="020B0400000000000000" pitchFamily="34" charset="-128"/>
                <a:cs typeface="Courier New" panose="02070309020205020404" pitchFamily="49" charset="0"/>
              </a:rPr>
              <a:t>- Perform same action for each item in a list of things.</a:t>
            </a:r>
          </a:p>
          <a:p>
            <a:endParaRPr lang="en-US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r>
              <a:rPr lang="en-US" dirty="0">
                <a:latin typeface="+mj-lt"/>
                <a:ea typeface="Yu Gothic" panose="020B0400000000000000" pitchFamily="34" charset="-128"/>
                <a:cs typeface="Courier New" panose="02070309020205020404" pitchFamily="49" charset="0"/>
              </a:rPr>
              <a:t>- Syntax:</a:t>
            </a:r>
          </a:p>
          <a:p>
            <a:endParaRPr lang="en-US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1E30D6-A94A-52D0-7075-811C0BF42555}"/>
              </a:ext>
            </a:extLst>
          </p:cNvPr>
          <p:cNvSpPr txBox="1"/>
          <p:nvPr/>
        </p:nvSpPr>
        <p:spPr>
          <a:xfrm>
            <a:off x="5451721" y="4884445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[1] "The year is 2011"</a:t>
            </a:r>
          </a:p>
          <a:p>
            <a:r>
              <a:rPr lang="en-US" dirty="0"/>
              <a:t>[1] "The year is 2012"</a:t>
            </a:r>
          </a:p>
          <a:p>
            <a:r>
              <a:rPr lang="en-US" dirty="0"/>
              <a:t>[1] "The year is 2013"</a:t>
            </a:r>
          </a:p>
          <a:p>
            <a:r>
              <a:rPr lang="en-US" dirty="0"/>
              <a:t>[1] "The year is 2014"</a:t>
            </a:r>
          </a:p>
          <a:p>
            <a:r>
              <a:rPr lang="en-US" dirty="0"/>
              <a:t>[1] "The year is 2015"</a:t>
            </a:r>
          </a:p>
          <a:p>
            <a:r>
              <a:rPr lang="en-US" dirty="0"/>
              <a:t>[1] "The year is 2016"</a:t>
            </a:r>
          </a:p>
        </p:txBody>
      </p:sp>
      <p:sp>
        <p:nvSpPr>
          <p:cNvPr id="14" name="Decision 13">
            <a:extLst>
              <a:ext uri="{FF2B5EF4-FFF2-40B4-BE49-F238E27FC236}">
                <a16:creationId xmlns:a16="http://schemas.microsoft.com/office/drawing/2014/main" id="{7A6163DC-E626-B0A8-B652-AEECB3E3F190}"/>
              </a:ext>
            </a:extLst>
          </p:cNvPr>
          <p:cNvSpPr/>
          <p:nvPr/>
        </p:nvSpPr>
        <p:spPr>
          <a:xfrm>
            <a:off x="6381420" y="2514282"/>
            <a:ext cx="1896136" cy="1862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Last item reached?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8E27D60-5270-E035-57DE-365AD787F894}"/>
              </a:ext>
            </a:extLst>
          </p:cNvPr>
          <p:cNvCxnSpPr/>
          <p:nvPr/>
        </p:nvCxnSpPr>
        <p:spPr>
          <a:xfrm>
            <a:off x="7342972" y="23677"/>
            <a:ext cx="0" cy="993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A4B3C4C-0C75-37BC-18AE-3CB098D5BA09}"/>
              </a:ext>
            </a:extLst>
          </p:cNvPr>
          <p:cNvSpPr txBox="1"/>
          <p:nvPr/>
        </p:nvSpPr>
        <p:spPr>
          <a:xfrm>
            <a:off x="7500807" y="199851"/>
            <a:ext cx="10918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For each item in sequence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AF4244-E838-6284-69F7-5C96B70234FA}"/>
              </a:ext>
            </a:extLst>
          </p:cNvPr>
          <p:cNvSpPr txBox="1"/>
          <p:nvPr/>
        </p:nvSpPr>
        <p:spPr>
          <a:xfrm>
            <a:off x="8031226" y="3445336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Yes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C9BEB1-E246-6775-73B5-7C45512593B0}"/>
              </a:ext>
            </a:extLst>
          </p:cNvPr>
          <p:cNvSpPr txBox="1"/>
          <p:nvPr/>
        </p:nvSpPr>
        <p:spPr>
          <a:xfrm>
            <a:off x="8138729" y="4588113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Exit loop</a:t>
            </a:r>
          </a:p>
        </p:txBody>
      </p:sp>
      <p:sp>
        <p:nvSpPr>
          <p:cNvPr id="19" name="Process 18">
            <a:extLst>
              <a:ext uri="{FF2B5EF4-FFF2-40B4-BE49-F238E27FC236}">
                <a16:creationId xmlns:a16="http://schemas.microsoft.com/office/drawing/2014/main" id="{4B0F6007-0905-EFE8-368F-845B648CEC11}"/>
              </a:ext>
            </a:extLst>
          </p:cNvPr>
          <p:cNvSpPr/>
          <p:nvPr/>
        </p:nvSpPr>
        <p:spPr>
          <a:xfrm>
            <a:off x="6612258" y="1030848"/>
            <a:ext cx="1434459" cy="58496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Statements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AC277DB-43D9-2373-C89A-10CDB3200D63}"/>
              </a:ext>
            </a:extLst>
          </p:cNvPr>
          <p:cNvCxnSpPr>
            <a:cxnSpLocks/>
            <a:stCxn id="19" idx="2"/>
            <a:endCxn id="14" idx="0"/>
          </p:cNvCxnSpPr>
          <p:nvPr/>
        </p:nvCxnSpPr>
        <p:spPr>
          <a:xfrm>
            <a:off x="7329488" y="1615816"/>
            <a:ext cx="0" cy="898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0B1A1DD0-DDD7-1EC3-6E69-838CC23C73CD}"/>
              </a:ext>
            </a:extLst>
          </p:cNvPr>
          <p:cNvCxnSpPr>
            <a:cxnSpLocks/>
            <a:stCxn id="14" idx="1"/>
            <a:endCxn id="19" idx="1"/>
          </p:cNvCxnSpPr>
          <p:nvPr/>
        </p:nvCxnSpPr>
        <p:spPr>
          <a:xfrm rot="10800000" flipH="1">
            <a:off x="6381420" y="1323332"/>
            <a:ext cx="230838" cy="2122004"/>
          </a:xfrm>
          <a:prstGeom prst="bentConnector3">
            <a:avLst>
              <a:gd name="adj1" fmla="val -9903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88A2A517-6538-4E62-5CA9-9CE5106E6B63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8277556" y="3445336"/>
            <a:ext cx="740484" cy="12191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4158EFF-D3B3-8D6F-839A-8EF2FCC5C87C}"/>
              </a:ext>
            </a:extLst>
          </p:cNvPr>
          <p:cNvSpPr txBox="1"/>
          <p:nvPr/>
        </p:nvSpPr>
        <p:spPr>
          <a:xfrm>
            <a:off x="5659683" y="3445336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" grpId="0" animBg="1"/>
      <p:bldP spid="252" grpId="0"/>
      <p:bldP spid="5" grpId="0"/>
      <p:bldP spid="14" grpId="0" animBg="1"/>
      <p:bldP spid="16" grpId="0"/>
      <p:bldP spid="17" grpId="0"/>
      <p:bldP spid="18" grpId="0"/>
      <p:bldP spid="19" grpId="0" animBg="1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7169887-3B25-DBB9-618C-7B81B2642561}"/>
              </a:ext>
            </a:extLst>
          </p:cNvPr>
          <p:cNvSpPr txBox="1"/>
          <p:nvPr/>
        </p:nvSpPr>
        <p:spPr>
          <a:xfrm>
            <a:off x="670669" y="1720840"/>
            <a:ext cx="583685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genes = c(“PI3K”, “FOXO”, “VLDL”, ”LIPC”)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genes)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CustomShape 1">
            <a:extLst>
              <a:ext uri="{FF2B5EF4-FFF2-40B4-BE49-F238E27FC236}">
                <a16:creationId xmlns:a16="http://schemas.microsoft.com/office/drawing/2014/main" id="{2CC4E6DF-D08B-5DFB-DEE2-2AB864F40581}"/>
              </a:ext>
            </a:extLst>
          </p:cNvPr>
          <p:cNvSpPr/>
          <p:nvPr/>
        </p:nvSpPr>
        <p:spPr>
          <a:xfrm>
            <a:off x="383628" y="146984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Loops</a:t>
            </a:r>
            <a:br>
              <a:rPr dirty="0"/>
            </a:b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59545D-4B00-9F0C-835A-F1680508871C}"/>
              </a:ext>
            </a:extLst>
          </p:cNvPr>
          <p:cNvSpPr txBox="1"/>
          <p:nvPr/>
        </p:nvSpPr>
        <p:spPr>
          <a:xfrm>
            <a:off x="670669" y="4029643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[1] "PI3K”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[1] "FOXO" 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[1] "VLDL" 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[1] "LIPC"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ecision 1">
            <a:extLst>
              <a:ext uri="{FF2B5EF4-FFF2-40B4-BE49-F238E27FC236}">
                <a16:creationId xmlns:a16="http://schemas.microsoft.com/office/drawing/2014/main" id="{B936217C-F26F-743B-D072-558F7A1703C5}"/>
              </a:ext>
            </a:extLst>
          </p:cNvPr>
          <p:cNvSpPr/>
          <p:nvPr/>
        </p:nvSpPr>
        <p:spPr>
          <a:xfrm>
            <a:off x="6073515" y="3811253"/>
            <a:ext cx="1896136" cy="1862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Last item reached?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7DA7FA0-BA09-BBDA-56E7-EA4391FA84E3}"/>
              </a:ext>
            </a:extLst>
          </p:cNvPr>
          <p:cNvCxnSpPr/>
          <p:nvPr/>
        </p:nvCxnSpPr>
        <p:spPr>
          <a:xfrm>
            <a:off x="7035067" y="1320648"/>
            <a:ext cx="0" cy="993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F9A54FD-B0B1-3F51-8573-8177C74B81C7}"/>
              </a:ext>
            </a:extLst>
          </p:cNvPr>
          <p:cNvSpPr txBox="1"/>
          <p:nvPr/>
        </p:nvSpPr>
        <p:spPr>
          <a:xfrm>
            <a:off x="7192902" y="1496822"/>
            <a:ext cx="10918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For each item in sequence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6EF2B7-E56C-321B-2D51-2DB620FFB550}"/>
              </a:ext>
            </a:extLst>
          </p:cNvPr>
          <p:cNvSpPr txBox="1"/>
          <p:nvPr/>
        </p:nvSpPr>
        <p:spPr>
          <a:xfrm>
            <a:off x="7723321" y="4742307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Yes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F7AEC-ABBF-AFD0-BC14-D92703722F79}"/>
              </a:ext>
            </a:extLst>
          </p:cNvPr>
          <p:cNvSpPr txBox="1"/>
          <p:nvPr/>
        </p:nvSpPr>
        <p:spPr>
          <a:xfrm>
            <a:off x="8030485" y="5961413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Exit loop</a:t>
            </a:r>
          </a:p>
        </p:txBody>
      </p:sp>
      <p:sp>
        <p:nvSpPr>
          <p:cNvPr id="10" name="Process 9">
            <a:extLst>
              <a:ext uri="{FF2B5EF4-FFF2-40B4-BE49-F238E27FC236}">
                <a16:creationId xmlns:a16="http://schemas.microsoft.com/office/drawing/2014/main" id="{3F2D23FC-3829-0262-D3BD-B04A2CDD230C}"/>
              </a:ext>
            </a:extLst>
          </p:cNvPr>
          <p:cNvSpPr/>
          <p:nvPr/>
        </p:nvSpPr>
        <p:spPr>
          <a:xfrm>
            <a:off x="6304353" y="2327819"/>
            <a:ext cx="1434459" cy="58496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Statements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F179DF-F33D-4D50-E6A8-B54808628C4C}"/>
              </a:ext>
            </a:extLst>
          </p:cNvPr>
          <p:cNvCxnSpPr>
            <a:cxnSpLocks/>
            <a:stCxn id="10" idx="2"/>
            <a:endCxn id="2" idx="0"/>
          </p:cNvCxnSpPr>
          <p:nvPr/>
        </p:nvCxnSpPr>
        <p:spPr>
          <a:xfrm>
            <a:off x="7021583" y="2912787"/>
            <a:ext cx="0" cy="898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8D88A972-1932-A145-C665-AD196DAA1443}"/>
              </a:ext>
            </a:extLst>
          </p:cNvPr>
          <p:cNvCxnSpPr>
            <a:cxnSpLocks/>
            <a:stCxn id="2" idx="1"/>
            <a:endCxn id="10" idx="1"/>
          </p:cNvCxnSpPr>
          <p:nvPr/>
        </p:nvCxnSpPr>
        <p:spPr>
          <a:xfrm rot="10800000" flipH="1">
            <a:off x="6073515" y="2620303"/>
            <a:ext cx="230838" cy="2122004"/>
          </a:xfrm>
          <a:prstGeom prst="bentConnector3">
            <a:avLst>
              <a:gd name="adj1" fmla="val -9903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3C937008-D69B-1B09-03AD-4464BB124859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7969651" y="4742307"/>
            <a:ext cx="740484" cy="12191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0AC2379-0C50-330B-C741-1794A662275C}"/>
              </a:ext>
            </a:extLst>
          </p:cNvPr>
          <p:cNvSpPr txBox="1"/>
          <p:nvPr/>
        </p:nvSpPr>
        <p:spPr>
          <a:xfrm>
            <a:off x="5351778" y="4742307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131625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1"/>
          <p:cNvSpPr/>
          <p:nvPr/>
        </p:nvSpPr>
        <p:spPr>
          <a:xfrm>
            <a:off x="383628" y="146984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Loops</a:t>
            </a:r>
            <a:br>
              <a:rPr dirty="0"/>
            </a:b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while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249" name="CustomShape 2"/>
          <p:cNvSpPr/>
          <p:nvPr/>
        </p:nvSpPr>
        <p:spPr>
          <a:xfrm>
            <a:off x="457200" y="2359440"/>
            <a:ext cx="8227440" cy="3126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>
              <a:lnSpc>
                <a:spcPct val="100000"/>
              </a:lnSpc>
              <a:spcBef>
                <a:spcPts val="434"/>
              </a:spcBef>
            </a:pP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lang="en-GB" sz="1800" b="0" strike="noStrike" spc="-1">
              <a:latin typeface="Arial"/>
            </a:endParaRPr>
          </a:p>
        </p:txBody>
      </p:sp>
      <p:sp>
        <p:nvSpPr>
          <p:cNvPr id="251" name="CustomShape 3"/>
          <p:cNvSpPr/>
          <p:nvPr/>
        </p:nvSpPr>
        <p:spPr>
          <a:xfrm>
            <a:off x="1038738" y="2895233"/>
            <a:ext cx="4570560" cy="119887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</a:rPr>
              <a:t>while (</a:t>
            </a:r>
            <a:r>
              <a:rPr lang="en-US" spc="-1" dirty="0" err="1">
                <a:solidFill>
                  <a:srgbClr val="000000"/>
                </a:solidFill>
                <a:latin typeface="Courier New"/>
              </a:rPr>
              <a:t>test_expression</a:t>
            </a:r>
            <a:r>
              <a:rPr lang="en-US" spc="-1" dirty="0">
                <a:solidFill>
                  <a:srgbClr val="000000"/>
                </a:solidFill>
                <a:latin typeface="Courier New"/>
              </a:rPr>
              <a:t>)</a:t>
            </a:r>
            <a:endParaRPr lang="en-GB" spc="-1" dirty="0"/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</a:rPr>
              <a:t>{</a:t>
            </a:r>
            <a:endParaRPr lang="en-GB" spc="-1" dirty="0"/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</a:rPr>
              <a:t>statement</a:t>
            </a:r>
            <a:endParaRPr lang="en-GB" spc="-1" dirty="0"/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</a:rPr>
              <a:t>}</a:t>
            </a:r>
            <a:endParaRPr lang="en-GB" spc="-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50167-09E6-A2D3-EE6E-D7B069C8F00E}"/>
              </a:ext>
            </a:extLst>
          </p:cNvPr>
          <p:cNvSpPr txBox="1"/>
          <p:nvPr/>
        </p:nvSpPr>
        <p:spPr>
          <a:xfrm>
            <a:off x="519839" y="1520710"/>
            <a:ext cx="57338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  <a:ea typeface="Yu Gothic" panose="020B0400000000000000" pitchFamily="34" charset="-128"/>
                <a:cs typeface="Courier New" panose="02070309020205020404" pitchFamily="49" charset="0"/>
              </a:rPr>
              <a:t>- Used to </a:t>
            </a:r>
            <a:r>
              <a:rPr lang="en-US" dirty="0">
                <a:ea typeface="Yu Gothic" panose="020B0400000000000000" pitchFamily="34" charset="-128"/>
                <a:cs typeface="Courier New" panose="02070309020205020404" pitchFamily="49" charset="0"/>
              </a:rPr>
              <a:t>iterate indefinitely as long as certain logical condition is TRUE.</a:t>
            </a:r>
          </a:p>
          <a:p>
            <a:endParaRPr lang="en-US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r>
              <a:rPr lang="en-US" dirty="0">
                <a:latin typeface="+mj-lt"/>
                <a:ea typeface="Yu Gothic" panose="020B0400000000000000" pitchFamily="34" charset="-128"/>
                <a:cs typeface="Courier New" panose="02070309020205020404" pitchFamily="49" charset="0"/>
              </a:rPr>
              <a:t>- Syntax:</a:t>
            </a:r>
          </a:p>
          <a:p>
            <a:endParaRPr lang="en-US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</p:txBody>
      </p:sp>
      <p:sp>
        <p:nvSpPr>
          <p:cNvPr id="6" name="CustomShape 5">
            <a:extLst>
              <a:ext uri="{FF2B5EF4-FFF2-40B4-BE49-F238E27FC236}">
                <a16:creationId xmlns:a16="http://schemas.microsoft.com/office/drawing/2014/main" id="{A67690A3-5522-8B46-CB49-B7689F6FE601}"/>
              </a:ext>
            </a:extLst>
          </p:cNvPr>
          <p:cNvSpPr/>
          <p:nvPr/>
        </p:nvSpPr>
        <p:spPr>
          <a:xfrm>
            <a:off x="792179" y="4944256"/>
            <a:ext cx="4570560" cy="17528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&lt;- 1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while (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&lt; 6)</a:t>
            </a: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{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print(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= i+1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lang="en-GB" sz="1800" b="0" strike="noStrike" spc="-1" dirty="0"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81AAF0-1B4E-37AA-3D6B-00704F9A58EE}"/>
              </a:ext>
            </a:extLst>
          </p:cNvPr>
          <p:cNvSpPr txBox="1"/>
          <p:nvPr/>
        </p:nvSpPr>
        <p:spPr>
          <a:xfrm>
            <a:off x="4750615" y="4874247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[1] 1</a:t>
            </a:r>
          </a:p>
          <a:p>
            <a:r>
              <a:rPr lang="en-US" dirty="0"/>
              <a:t>[1] 2</a:t>
            </a:r>
          </a:p>
          <a:p>
            <a:r>
              <a:rPr lang="en-US" dirty="0"/>
              <a:t>[1] 3</a:t>
            </a:r>
          </a:p>
          <a:p>
            <a:r>
              <a:rPr lang="en-US" dirty="0"/>
              <a:t>[1] 4</a:t>
            </a:r>
          </a:p>
          <a:p>
            <a:r>
              <a:rPr lang="en-US" dirty="0"/>
              <a:t>[1] 5</a:t>
            </a:r>
          </a:p>
        </p:txBody>
      </p:sp>
      <p:sp>
        <p:nvSpPr>
          <p:cNvPr id="4" name="Decision 3">
            <a:extLst>
              <a:ext uri="{FF2B5EF4-FFF2-40B4-BE49-F238E27FC236}">
                <a16:creationId xmlns:a16="http://schemas.microsoft.com/office/drawing/2014/main" id="{68E2E5EB-6E66-911E-B75E-C3FB22B72FB3}"/>
              </a:ext>
            </a:extLst>
          </p:cNvPr>
          <p:cNvSpPr/>
          <p:nvPr/>
        </p:nvSpPr>
        <p:spPr>
          <a:xfrm>
            <a:off x="6179032" y="1827360"/>
            <a:ext cx="1896136" cy="1862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Test condition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B7DFF45-B9C3-541F-8568-B1514E33567D}"/>
              </a:ext>
            </a:extLst>
          </p:cNvPr>
          <p:cNvCxnSpPr/>
          <p:nvPr/>
        </p:nvCxnSpPr>
        <p:spPr>
          <a:xfrm>
            <a:off x="7130069" y="833760"/>
            <a:ext cx="0" cy="993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835FAF4-934F-3C07-CF8D-7540DC6768D1}"/>
              </a:ext>
            </a:extLst>
          </p:cNvPr>
          <p:cNvSpPr txBox="1"/>
          <p:nvPr/>
        </p:nvSpPr>
        <p:spPr>
          <a:xfrm>
            <a:off x="7287904" y="1009934"/>
            <a:ext cx="1091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Enter while loop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68802F-141F-3106-2E33-DE12988797F8}"/>
              </a:ext>
            </a:extLst>
          </p:cNvPr>
          <p:cNvSpPr txBox="1"/>
          <p:nvPr/>
        </p:nvSpPr>
        <p:spPr>
          <a:xfrm>
            <a:off x="7833814" y="2400843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FALSE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02AC34-C9F1-37F8-557F-A24AD986830A}"/>
              </a:ext>
            </a:extLst>
          </p:cNvPr>
          <p:cNvSpPr txBox="1"/>
          <p:nvPr/>
        </p:nvSpPr>
        <p:spPr>
          <a:xfrm>
            <a:off x="7713316" y="5558990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Exit loop</a:t>
            </a:r>
          </a:p>
        </p:txBody>
      </p:sp>
      <p:sp>
        <p:nvSpPr>
          <p:cNvPr id="11" name="Process 10">
            <a:extLst>
              <a:ext uri="{FF2B5EF4-FFF2-40B4-BE49-F238E27FC236}">
                <a16:creationId xmlns:a16="http://schemas.microsoft.com/office/drawing/2014/main" id="{397F6CA4-656D-ABBA-8F97-A251CB87D9E9}"/>
              </a:ext>
            </a:extLst>
          </p:cNvPr>
          <p:cNvSpPr/>
          <p:nvPr/>
        </p:nvSpPr>
        <p:spPr>
          <a:xfrm>
            <a:off x="6413002" y="4696716"/>
            <a:ext cx="1434459" cy="58496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Statements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3FCA83E-BE9E-4299-6A66-F098CC815289}"/>
              </a:ext>
            </a:extLst>
          </p:cNvPr>
          <p:cNvCxnSpPr>
            <a:stCxn id="4" idx="2"/>
            <a:endCxn id="11" idx="0"/>
          </p:cNvCxnSpPr>
          <p:nvPr/>
        </p:nvCxnSpPr>
        <p:spPr>
          <a:xfrm>
            <a:off x="7127100" y="3689468"/>
            <a:ext cx="3132" cy="1007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CCF6673E-26C6-AFC7-9FD4-8D2F63362131}"/>
              </a:ext>
            </a:extLst>
          </p:cNvPr>
          <p:cNvCxnSpPr>
            <a:stCxn id="11" idx="1"/>
            <a:endCxn id="4" idx="1"/>
          </p:cNvCxnSpPr>
          <p:nvPr/>
        </p:nvCxnSpPr>
        <p:spPr>
          <a:xfrm rot="10800000">
            <a:off x="6179032" y="2758414"/>
            <a:ext cx="233970" cy="2230786"/>
          </a:xfrm>
          <a:prstGeom prst="bentConnector3">
            <a:avLst>
              <a:gd name="adj1" fmla="val 19770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359CC67F-D27D-2F7C-A648-A5FA2E82A06E}"/>
              </a:ext>
            </a:extLst>
          </p:cNvPr>
          <p:cNvCxnSpPr>
            <a:stCxn id="4" idx="3"/>
          </p:cNvCxnSpPr>
          <p:nvPr/>
        </p:nvCxnSpPr>
        <p:spPr>
          <a:xfrm>
            <a:off x="8075168" y="2758414"/>
            <a:ext cx="685129" cy="340982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DA79A8A-2788-9DFD-381C-D70BB09CE304}"/>
              </a:ext>
            </a:extLst>
          </p:cNvPr>
          <p:cNvSpPr txBox="1"/>
          <p:nvPr/>
        </p:nvSpPr>
        <p:spPr>
          <a:xfrm>
            <a:off x="6872362" y="3942471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71576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" grpId="0" animBg="1"/>
      <p:bldP spid="6" grpId="0"/>
      <p:bldP spid="8" grpId="0"/>
      <p:bldP spid="9" grpId="0"/>
      <p:bldP spid="10" grpId="0"/>
      <p:bldP spid="11" grpId="0" animBg="1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CustomShape 1"/>
          <p:cNvSpPr/>
          <p:nvPr/>
        </p:nvSpPr>
        <p:spPr>
          <a:xfrm>
            <a:off x="457200" y="53244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Infinite loops</a:t>
            </a:r>
            <a:endParaRPr lang="en-GB" sz="4400" b="0" strike="noStrike" spc="-1">
              <a:latin typeface="Arial"/>
            </a:endParaRPr>
          </a:p>
        </p:txBody>
      </p:sp>
      <p:pic>
        <p:nvPicPr>
          <p:cNvPr id="260" name="Picture 6_0" descr="arguing-with-yourself-at-are-you-stuck-in-an-infinite-49873894.png"/>
          <p:cNvPicPr/>
          <p:nvPr/>
        </p:nvPicPr>
        <p:blipFill>
          <a:blip r:embed="rId2"/>
          <a:stretch/>
        </p:blipFill>
        <p:spPr>
          <a:xfrm>
            <a:off x="4680720" y="1600200"/>
            <a:ext cx="4164480" cy="5039640"/>
          </a:xfrm>
          <a:prstGeom prst="rect">
            <a:avLst/>
          </a:prstGeom>
          <a:ln>
            <a:noFill/>
          </a:ln>
        </p:spPr>
      </p:pic>
      <p:sp>
        <p:nvSpPr>
          <p:cNvPr id="261" name="CustomShape 2"/>
          <p:cNvSpPr/>
          <p:nvPr/>
        </p:nvSpPr>
        <p:spPr>
          <a:xfrm>
            <a:off x="678600" y="2723760"/>
            <a:ext cx="3831480" cy="11988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x &lt;- 1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while (x==1){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  <a:ea typeface="DejaVu Sans"/>
              </a:rPr>
              <a:t>p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rint(“Let’s move on!”)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lang="en-GB" sz="1800" b="0" strike="noStrike" spc="-1" dirty="0">
              <a:latin typeface="Arial"/>
            </a:endParaRPr>
          </a:p>
        </p:txBody>
      </p:sp>
      <p:sp>
        <p:nvSpPr>
          <p:cNvPr id="262" name="CustomShape 3"/>
          <p:cNvSpPr/>
          <p:nvPr/>
        </p:nvSpPr>
        <p:spPr>
          <a:xfrm>
            <a:off x="771120" y="4796280"/>
            <a:ext cx="3038040" cy="39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FF0000"/>
                </a:solidFill>
                <a:latin typeface="Calibri"/>
                <a:ea typeface="DejaVu Sans"/>
              </a:rPr>
              <a:t>Something to keep in mind!</a:t>
            </a:r>
            <a:endParaRPr lang="en-GB" sz="2000" b="0" strike="noStrike" spc="-1">
              <a:latin typeface="Arial"/>
            </a:endParaRPr>
          </a:p>
        </p:txBody>
      </p:sp>
      <p:sp>
        <p:nvSpPr>
          <p:cNvPr id="263" name="CustomShape 4"/>
          <p:cNvSpPr/>
          <p:nvPr/>
        </p:nvSpPr>
        <p:spPr>
          <a:xfrm>
            <a:off x="349920" y="5914800"/>
            <a:ext cx="4284720" cy="63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*</a:t>
            </a: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break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next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statements might help –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advanced level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CustomShape 1"/>
          <p:cNvSpPr/>
          <p:nvPr/>
        </p:nvSpPr>
        <p:spPr>
          <a:xfrm>
            <a:off x="0" y="0"/>
            <a:ext cx="9142560" cy="6856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5" name="CustomShape 2"/>
          <p:cNvSpPr/>
          <p:nvPr/>
        </p:nvSpPr>
        <p:spPr>
          <a:xfrm>
            <a:off x="912960" y="2222640"/>
            <a:ext cx="3518280" cy="2410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5400" b="1" strike="noStrike" spc="-1">
                <a:solidFill>
                  <a:srgbClr val="000000"/>
                </a:solidFill>
                <a:latin typeface="Calibri"/>
                <a:ea typeface="DejaVu Sans"/>
              </a:rPr>
              <a:t>Let’s explore practically</a:t>
            </a:r>
            <a:endParaRPr lang="en-GB" sz="5400" b="0" strike="noStrike" spc="-1">
              <a:latin typeface="Arial"/>
            </a:endParaRPr>
          </a:p>
        </p:txBody>
      </p:sp>
      <p:sp>
        <p:nvSpPr>
          <p:cNvPr id="266" name="CustomShape 3"/>
          <p:cNvSpPr/>
          <p:nvPr/>
        </p:nvSpPr>
        <p:spPr>
          <a:xfrm>
            <a:off x="4132800" y="851400"/>
            <a:ext cx="4637160" cy="5153400"/>
          </a:xfrm>
          <a:custGeom>
            <a:avLst/>
            <a:gdLst/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67" name="Graphic 5_0" descr="Cmd Terminal outline"/>
          <p:cNvPicPr/>
          <p:nvPr/>
        </p:nvPicPr>
        <p:blipFill>
          <a:blip r:embed="rId2"/>
          <a:stretch/>
        </p:blipFill>
        <p:spPr>
          <a:xfrm>
            <a:off x="5484960" y="2341080"/>
            <a:ext cx="2745000" cy="2745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Migration and morphology data</a:t>
            </a:r>
            <a:endParaRPr lang="en-GB" sz="4400" b="0" strike="noStrike" spc="-1">
              <a:latin typeface="Arial"/>
            </a:endParaRPr>
          </a:p>
        </p:txBody>
      </p:sp>
      <p:pic>
        <p:nvPicPr>
          <p:cNvPr id="269" name="Picture 3_3"/>
          <p:cNvPicPr/>
          <p:nvPr/>
        </p:nvPicPr>
        <p:blipFill>
          <a:blip r:embed="rId2"/>
          <a:stretch/>
        </p:blipFill>
        <p:spPr>
          <a:xfrm>
            <a:off x="328320" y="1742760"/>
            <a:ext cx="4177440" cy="4566960"/>
          </a:xfrm>
          <a:prstGeom prst="rect">
            <a:avLst/>
          </a:prstGeom>
          <a:ln>
            <a:noFill/>
          </a:ln>
        </p:spPr>
      </p:pic>
      <p:pic>
        <p:nvPicPr>
          <p:cNvPr id="270" name="Picture 2_2" descr="figure3"/>
          <p:cNvPicPr/>
          <p:nvPr/>
        </p:nvPicPr>
        <p:blipFill>
          <a:blip r:embed="rId3"/>
          <a:stretch/>
        </p:blipFill>
        <p:spPr>
          <a:xfrm>
            <a:off x="4764960" y="1438920"/>
            <a:ext cx="3827520" cy="2905200"/>
          </a:xfrm>
          <a:prstGeom prst="rect">
            <a:avLst/>
          </a:prstGeom>
          <a:ln>
            <a:noFill/>
          </a:ln>
        </p:spPr>
      </p:pic>
      <p:sp>
        <p:nvSpPr>
          <p:cNvPr id="271" name="CustomShape 2"/>
          <p:cNvSpPr/>
          <p:nvPr/>
        </p:nvSpPr>
        <p:spPr>
          <a:xfrm>
            <a:off x="4765680" y="4421160"/>
            <a:ext cx="4048560" cy="22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Table 1: Migration data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col1: reagent_id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col2: gene_symbol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col3: migration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Table 2: Morphology data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col1: reagent_id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col2: gene_symbol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col3: elongatedness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Basic statistics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73" name="CustomShape 2"/>
          <p:cNvSpPr/>
          <p:nvPr/>
        </p:nvSpPr>
        <p:spPr>
          <a:xfrm>
            <a:off x="457200" y="1700280"/>
            <a:ext cx="8227800" cy="48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1000" lnSpcReduction="10000"/>
          </a:bodyPr>
          <a:lstStyle/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Correlations – </a:t>
            </a: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cor(), cor.test()</a:t>
            </a:r>
            <a:endParaRPr lang="en-GB" sz="20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T-test (parametric):</a:t>
            </a:r>
            <a:endParaRPr lang="en-GB" sz="20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Courier New"/>
              <a:buChar char="o"/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 Unpaired 2-group t-test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t.test(y~x) </a:t>
            </a: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# where y is numeric and x is a binary factor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t.test(y1,y2)</a:t>
            </a: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 # where y1 and y2 are numeric</a:t>
            </a:r>
            <a:endParaRPr lang="en-GB" sz="20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Paired 2-group t-test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t.test(y1,y2, paired=TRUE)</a:t>
            </a: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 # where y1 &amp; y2 are numeric</a:t>
            </a:r>
            <a:endParaRPr lang="en-GB" sz="20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Non-parametric tests:</a:t>
            </a:r>
            <a:endParaRPr lang="en-GB" sz="20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Unpaired 2-group Mann-Whitney U Test 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wilcox.test(y~A) </a:t>
            </a: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# where y is numeric and A is A binary factor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wilcox.test(y,x)</a:t>
            </a: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 # where y and x are numeric</a:t>
            </a:r>
            <a:endParaRPr lang="en-GB" sz="20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Paired 2-group Wilcoxon Signed Rank Test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wilcox.test(y1,y2, paired=TRUE) </a:t>
            </a: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# where y1 and y2 are numeric</a:t>
            </a:r>
            <a:endParaRPr lang="en-GB" sz="20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More than 2 groups - analysis of variance (ANOVA, parametric)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aov(), anova()</a:t>
            </a:r>
            <a:endParaRPr lang="en-GB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CustomShape 1"/>
          <p:cNvSpPr/>
          <p:nvPr/>
        </p:nvSpPr>
        <p:spPr>
          <a:xfrm>
            <a:off x="269280" y="728640"/>
            <a:ext cx="847908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Calibri"/>
              </a:rPr>
              <a:t>Useful functions for summarisation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75" name="CustomShape 2"/>
          <p:cNvSpPr/>
          <p:nvPr/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00000"/>
              </a:lnSpc>
              <a:spcBef>
                <a:spcPts val="479"/>
              </a:spcBef>
            </a:pPr>
            <a:endParaRPr lang="en-GB" sz="18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 dirty="0" err="1">
                <a:solidFill>
                  <a:srgbClr val="000000"/>
                </a:solidFill>
                <a:latin typeface="Calibri"/>
                <a:ea typeface="Calibri"/>
              </a:rPr>
              <a:t>Center</a:t>
            </a:r>
            <a:r>
              <a:rPr lang="en-GB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: </a:t>
            </a:r>
            <a:r>
              <a:rPr lang="en-GB" sz="24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mean(), median()</a:t>
            </a:r>
            <a:endParaRPr lang="en-GB" sz="24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Spread: </a:t>
            </a:r>
            <a:r>
              <a:rPr lang="en-GB" sz="24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sd</a:t>
            </a:r>
            <a:r>
              <a:rPr lang="en-GB" sz="24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(), IQR()</a:t>
            </a:r>
            <a:endParaRPr lang="en-GB" sz="24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Range: </a:t>
            </a:r>
            <a:r>
              <a:rPr lang="en-GB" sz="24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min(), max(), quantile()</a:t>
            </a:r>
            <a:endParaRPr lang="en-GB" sz="24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endParaRPr lang="en-GB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CustomShape 1"/>
          <p:cNvSpPr/>
          <p:nvPr/>
        </p:nvSpPr>
        <p:spPr>
          <a:xfrm>
            <a:off x="457200" y="68400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Visualising data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77" name="CustomShape 2"/>
          <p:cNvSpPr/>
          <p:nvPr/>
        </p:nvSpPr>
        <p:spPr>
          <a:xfrm>
            <a:off x="457200" y="2034720"/>
            <a:ext cx="5365080" cy="4138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164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Base R plotting</a:t>
            </a:r>
            <a:endParaRPr lang="en-GB" sz="2180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>
                <a:solidFill>
                  <a:srgbClr val="000000"/>
                </a:solidFill>
                <a:latin typeface="Calibri"/>
                <a:ea typeface="DejaVu Sans"/>
              </a:rPr>
              <a:t>Great for initial exploration</a:t>
            </a:r>
            <a:endParaRPr lang="en-GB" sz="1779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>
                <a:solidFill>
                  <a:srgbClr val="000000"/>
                </a:solidFill>
                <a:latin typeface="Calibri"/>
                <a:ea typeface="DejaVu Sans"/>
              </a:rPr>
              <a:t>Quick</a:t>
            </a:r>
            <a:endParaRPr lang="en-GB" sz="1779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>
                <a:solidFill>
                  <a:srgbClr val="000000"/>
                </a:solidFill>
                <a:latin typeface="Calibri"/>
                <a:ea typeface="DejaVu Sans"/>
              </a:rPr>
              <a:t>Simple syntax – many things can be plotted with just </a:t>
            </a:r>
            <a:r>
              <a:rPr lang="en-GB" sz="177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plot()</a:t>
            </a:r>
            <a:endParaRPr lang="en-GB" sz="1779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>
                <a:solidFill>
                  <a:srgbClr val="000000"/>
                </a:solidFill>
                <a:latin typeface="Calibri"/>
                <a:ea typeface="DejaVu Sans"/>
              </a:rPr>
              <a:t>Not easy to modify colours, aesthetics, etc.</a:t>
            </a:r>
            <a:endParaRPr lang="en-GB" sz="1779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ggplot2 package</a:t>
            </a:r>
            <a:endParaRPr lang="en-GB" sz="2180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>
                <a:solidFill>
                  <a:srgbClr val="000000"/>
                </a:solidFill>
                <a:latin typeface="Calibri"/>
                <a:ea typeface="DejaVu Sans"/>
              </a:rPr>
              <a:t>Modular – graphs can be built element-by-element</a:t>
            </a:r>
            <a:endParaRPr lang="en-GB" sz="1779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>
                <a:solidFill>
                  <a:srgbClr val="000000"/>
                </a:solidFill>
                <a:latin typeface="Calibri"/>
                <a:ea typeface="DejaVu Sans"/>
              </a:rPr>
              <a:t>Need to remember a few different functions</a:t>
            </a:r>
            <a:endParaRPr lang="en-GB" sz="1779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>
                <a:solidFill>
                  <a:srgbClr val="000000"/>
                </a:solidFill>
                <a:latin typeface="Calibri"/>
                <a:ea typeface="DejaVu Sans"/>
              </a:rPr>
              <a:t>Possible to produce publication quality figures with relative ease</a:t>
            </a:r>
            <a:endParaRPr lang="en-GB" sz="1779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37"/>
              </a:spcBef>
              <a:tabLst>
                <a:tab pos="0" algn="l"/>
              </a:tabLst>
            </a:pPr>
            <a:endParaRPr lang="en-GB" sz="1779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</a:tabLst>
            </a:pPr>
            <a:endParaRPr lang="en-GB" sz="1779" b="0" strike="noStrike" spc="-1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37"/>
              </a:spcBef>
              <a:tabLst>
                <a:tab pos="0" algn="l"/>
              </a:tabLst>
            </a:pPr>
            <a:endParaRPr lang="en-GB" sz="1779" b="0" strike="noStrike" spc="-1">
              <a:latin typeface="Arial"/>
            </a:endParaRPr>
          </a:p>
        </p:txBody>
      </p:sp>
      <p:pic>
        <p:nvPicPr>
          <p:cNvPr id="278" name="Picture 3_2"/>
          <p:cNvPicPr/>
          <p:nvPr/>
        </p:nvPicPr>
        <p:blipFill>
          <a:blip r:embed="rId2"/>
          <a:stretch/>
        </p:blipFill>
        <p:spPr>
          <a:xfrm>
            <a:off x="5823720" y="1589040"/>
            <a:ext cx="3318840" cy="2407680"/>
          </a:xfrm>
          <a:prstGeom prst="rect">
            <a:avLst/>
          </a:prstGeom>
          <a:ln>
            <a:noFill/>
          </a:ln>
        </p:spPr>
      </p:pic>
      <p:pic>
        <p:nvPicPr>
          <p:cNvPr id="279" name="Picture 6_2"/>
          <p:cNvPicPr/>
          <p:nvPr/>
        </p:nvPicPr>
        <p:blipFill>
          <a:blip r:embed="rId3"/>
          <a:stretch/>
        </p:blipFill>
        <p:spPr>
          <a:xfrm>
            <a:off x="5823720" y="4331520"/>
            <a:ext cx="3152160" cy="22867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CustomShape 1"/>
          <p:cNvSpPr/>
          <p:nvPr/>
        </p:nvSpPr>
        <p:spPr>
          <a:xfrm>
            <a:off x="0" y="0"/>
            <a:ext cx="9142560" cy="6856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81" name="CustomShape 2"/>
          <p:cNvSpPr/>
          <p:nvPr/>
        </p:nvSpPr>
        <p:spPr>
          <a:xfrm>
            <a:off x="820440" y="851400"/>
            <a:ext cx="3927240" cy="298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6000" b="1" strike="noStrike" spc="-1">
                <a:solidFill>
                  <a:srgbClr val="000000"/>
                </a:solidFill>
                <a:latin typeface="Calibri"/>
                <a:ea typeface="DejaVu Sans"/>
              </a:rPr>
              <a:t>Let’s explore practically</a:t>
            </a:r>
            <a:endParaRPr lang="en-GB" sz="6000" b="0" strike="noStrike" spc="-1">
              <a:latin typeface="Arial"/>
            </a:endParaRPr>
          </a:p>
        </p:txBody>
      </p:sp>
      <p:sp>
        <p:nvSpPr>
          <p:cNvPr id="282" name="CustomShape 3"/>
          <p:cNvSpPr/>
          <p:nvPr/>
        </p:nvSpPr>
        <p:spPr>
          <a:xfrm>
            <a:off x="4132800" y="851400"/>
            <a:ext cx="4637160" cy="5153400"/>
          </a:xfrm>
          <a:custGeom>
            <a:avLst/>
            <a:gdLst/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83" name="Graphic 5_2" descr="Cmd Terminal outline"/>
          <p:cNvPicPr/>
          <p:nvPr/>
        </p:nvPicPr>
        <p:blipFill>
          <a:blip r:embed="rId2"/>
          <a:stretch/>
        </p:blipFill>
        <p:spPr>
          <a:xfrm>
            <a:off x="5648760" y="2531520"/>
            <a:ext cx="2411640" cy="2411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CustomShape 1"/>
          <p:cNvSpPr/>
          <p:nvPr/>
        </p:nvSpPr>
        <p:spPr>
          <a:xfrm>
            <a:off x="457200" y="68400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Packages/libraries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85" name="CustomShape 2"/>
          <p:cNvSpPr/>
          <p:nvPr/>
        </p:nvSpPr>
        <p:spPr>
          <a:xfrm>
            <a:off x="1091520" y="1956600"/>
            <a:ext cx="6924600" cy="191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lang="en-US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package 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is a collection of R functions, data and compiled code. The location where the packages are stored is called the</a:t>
            </a:r>
            <a:r>
              <a:rPr lang="en-US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 library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Package extends basic R functionality and standardizes the distribution of code. For example, a package can contain a set of functions relating to a specific topic or tasks.</a:t>
            </a:r>
            <a:endParaRPr lang="en-GB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CustomShape 1"/>
          <p:cNvSpPr/>
          <p:nvPr/>
        </p:nvSpPr>
        <p:spPr>
          <a:xfrm>
            <a:off x="438120" y="51336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000" b="1" strike="noStrike" spc="-1">
                <a:solidFill>
                  <a:srgbClr val="000000"/>
                </a:solidFill>
                <a:latin typeface="Calibri"/>
                <a:ea typeface="DejaVu Sans"/>
              </a:rPr>
              <a:t>Where to get the libraries/packages?</a:t>
            </a:r>
            <a:endParaRPr lang="en-GB" sz="4000" b="0" strike="noStrike" spc="-1">
              <a:latin typeface="Arial"/>
            </a:endParaRPr>
          </a:p>
        </p:txBody>
      </p:sp>
      <p:sp>
        <p:nvSpPr>
          <p:cNvPr id="287" name="CustomShape 2"/>
          <p:cNvSpPr/>
          <p:nvPr/>
        </p:nvSpPr>
        <p:spPr>
          <a:xfrm>
            <a:off x="979560" y="1715760"/>
            <a:ext cx="7016760" cy="452286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343080" indent="-3416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CRAN (</a:t>
            </a:r>
            <a:r>
              <a:rPr lang="en-US" sz="180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2"/>
              </a:rPr>
              <a:t>https://cran.r-project.org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Install: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install.packages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dplyr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Activate: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>
                <a:solidFill>
                  <a:srgbClr val="000000"/>
                </a:solidFill>
                <a:latin typeface="Courier New"/>
                <a:ea typeface="DejaVu Sans"/>
              </a:rPr>
              <a:t>l</a:t>
            </a: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ibrary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dplyr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Bioconductor (</a:t>
            </a:r>
            <a:r>
              <a:rPr lang="en-US" sz="180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3"/>
              </a:rPr>
              <a:t>https://bioconductor.org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if (!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requireNamespace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BiocManager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", quietly = TRUE))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   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install.packages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BiocManager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”)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BiocManager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::install("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limma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Github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(</a:t>
            </a:r>
            <a:r>
              <a:rPr lang="en-US" sz="180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4"/>
              </a:rPr>
              <a:t>https://github.com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install.packages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devtools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library(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devtools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install_github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hadley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/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dplyr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”)</a:t>
            </a:r>
            <a:endParaRPr lang="en-GB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CustomShape 1"/>
          <p:cNvSpPr/>
          <p:nvPr/>
        </p:nvSpPr>
        <p:spPr>
          <a:xfrm>
            <a:off x="457200" y="68400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Functions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89" name="CustomShape 2"/>
          <p:cNvSpPr/>
          <p:nvPr/>
        </p:nvSpPr>
        <p:spPr>
          <a:xfrm>
            <a:off x="457200" y="2359440"/>
            <a:ext cx="8227440" cy="3126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>
              <a:lnSpc>
                <a:spcPct val="100000"/>
              </a:lnSpc>
              <a:spcBef>
                <a:spcPts val="434"/>
              </a:spcBef>
            </a:pP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lang="en-GB" sz="1800" b="0" strike="noStrike" spc="-1">
              <a:latin typeface="Arial"/>
            </a:endParaRPr>
          </a:p>
        </p:txBody>
      </p:sp>
      <p:sp>
        <p:nvSpPr>
          <p:cNvPr id="290" name="CustomShape 3"/>
          <p:cNvSpPr/>
          <p:nvPr/>
        </p:nvSpPr>
        <p:spPr>
          <a:xfrm>
            <a:off x="952560" y="2413440"/>
            <a:ext cx="6964560" cy="2009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Functions are created using the function() directive and are stored as R objects just like anything else. In particular, they are R objects of class “function”.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f &lt;- function(&lt;arguments&gt;) {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      ## Do something interesting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291" name="CustomShape 4"/>
          <p:cNvSpPr/>
          <p:nvPr/>
        </p:nvSpPr>
        <p:spPr>
          <a:xfrm>
            <a:off x="754200" y="5575680"/>
            <a:ext cx="793404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0000"/>
                </a:solidFill>
                <a:latin typeface="Calibri"/>
                <a:ea typeface="DejaVu Sans"/>
              </a:rPr>
              <a:t>Note: majority of the functions you would try to create already exist in the libraries!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CustomShape 1"/>
          <p:cNvSpPr/>
          <p:nvPr/>
        </p:nvSpPr>
        <p:spPr>
          <a:xfrm>
            <a:off x="457200" y="68400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Loop functions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93" name="CustomShape 2"/>
          <p:cNvSpPr/>
          <p:nvPr/>
        </p:nvSpPr>
        <p:spPr>
          <a:xfrm>
            <a:off x="457200" y="1759320"/>
            <a:ext cx="8227440" cy="1762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 fontScale="92000"/>
          </a:bodyPr>
          <a:lstStyle/>
          <a:p>
            <a:pPr marL="343080" indent="-34164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lapply() </a:t>
            </a: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perform an action on each element of a vector: returns list</a:t>
            </a:r>
            <a:endParaRPr lang="en-GB" sz="2180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sapply() </a:t>
            </a: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as above, returns a simplified object (variable)</a:t>
            </a:r>
            <a:endParaRPr lang="en-GB" sz="2180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apply() </a:t>
            </a: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loop over rows or columns of a matrix or df</a:t>
            </a:r>
            <a:endParaRPr lang="en-GB" sz="2180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tapply() </a:t>
            </a: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loop over a vector, split based on a factor</a:t>
            </a:r>
            <a:endParaRPr lang="en-GB" sz="2180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mapply() </a:t>
            </a: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loop over more than one vector</a:t>
            </a:r>
            <a:endParaRPr lang="en-GB" sz="218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37"/>
              </a:spcBef>
            </a:pPr>
            <a:endParaRPr lang="en-GB" sz="2180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37"/>
              </a:spcBef>
              <a:tabLst>
                <a:tab pos="0" algn="l"/>
              </a:tabLst>
            </a:pPr>
            <a:endParaRPr lang="en-GB" sz="2180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</a:tabLst>
            </a:pPr>
            <a:endParaRPr lang="en-GB" sz="2180" b="0" strike="noStrike" spc="-1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37"/>
              </a:spcBef>
              <a:tabLst>
                <a:tab pos="0" algn="l"/>
              </a:tabLst>
            </a:pPr>
            <a:endParaRPr lang="en-GB" sz="2180" b="0" strike="noStrike" spc="-1">
              <a:latin typeface="Arial"/>
            </a:endParaRPr>
          </a:p>
        </p:txBody>
      </p:sp>
      <p:sp>
        <p:nvSpPr>
          <p:cNvPr id="294" name="CustomShape 3"/>
          <p:cNvSpPr/>
          <p:nvPr/>
        </p:nvSpPr>
        <p:spPr>
          <a:xfrm>
            <a:off x="243360" y="3721320"/>
            <a:ext cx="8441280" cy="252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my_list = list(a = c(1, 2, 3), b = c(4, 5, 6), c = c(7, 8, 9))</a:t>
            </a: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lapply(my_list, mean)</a:t>
            </a: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$a</a:t>
            </a: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[1] 2</a:t>
            </a: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$b</a:t>
            </a: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[1] 5</a:t>
            </a: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$c</a:t>
            </a: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[1] 8</a:t>
            </a:r>
            <a:endParaRPr lang="en-GB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CustomShape 1"/>
          <p:cNvSpPr/>
          <p:nvPr/>
        </p:nvSpPr>
        <p:spPr>
          <a:xfrm>
            <a:off x="457200" y="68400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Resources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96" name="CustomShape 2"/>
          <p:cNvSpPr/>
          <p:nvPr/>
        </p:nvSpPr>
        <p:spPr>
          <a:xfrm>
            <a:off x="400320" y="187848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Bef>
                <a:spcPts val="437"/>
              </a:spcBef>
            </a:pPr>
            <a:r>
              <a:rPr lang="en-GB" sz="218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2"/>
              </a:rPr>
              <a:t>R Programming for Data Science (Roger Peng)</a:t>
            </a: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– Ch. 3, 4, 5, 9</a:t>
            </a:r>
            <a:endParaRPr lang="en-GB" sz="218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37"/>
              </a:spcBef>
            </a:pPr>
            <a:r>
              <a:rPr lang="en-GB" sz="218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3"/>
              </a:rPr>
              <a:t>Swirl</a:t>
            </a: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– Interactive learning</a:t>
            </a:r>
            <a:endParaRPr lang="en-GB" sz="218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37"/>
              </a:spcBef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  <a:hlinkClick r:id="rId4"/>
              </a:rPr>
              <a:t>https://www.tidyverse.org/</a:t>
            </a:r>
            <a:endParaRPr lang="en-GB" sz="218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37"/>
              </a:spcBef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  <a:hlinkClick r:id="rId5"/>
              </a:rPr>
              <a:t>https://www.r-graph-gallery.com/</a:t>
            </a:r>
            <a:endParaRPr lang="en-GB" sz="218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37"/>
              </a:spcBef>
            </a:pPr>
            <a:endParaRPr lang="en-GB" sz="218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37"/>
              </a:spcBef>
            </a:pPr>
            <a:r>
              <a:rPr lang="en-GB" sz="218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Advanced R course for data analysis and visualisation – on MSD skills training every term</a:t>
            </a:r>
            <a:endParaRPr lang="en-GB" sz="218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1179</TotalTime>
  <Words>1497</Words>
  <Application>Microsoft Macintosh PowerPoint</Application>
  <PresentationFormat>On-screen Show (4:3)</PresentationFormat>
  <Paragraphs>284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23</vt:i4>
      </vt:variant>
    </vt:vector>
  </HeadingPairs>
  <TitlesOfParts>
    <vt:vector size="36" baseType="lpstr">
      <vt:lpstr>Arial</vt:lpstr>
      <vt:lpstr>Calibri</vt:lpstr>
      <vt:lpstr>Courier New</vt:lpstr>
      <vt:lpstr>Nyala</vt:lpstr>
      <vt:lpstr>Symbol</vt:lpstr>
      <vt:lpstr>Wingdings</vt:lpstr>
      <vt:lpstr>Wingdings 3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Chained conditionals if … else if … else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Srinivasa Rao Rao</dc:creator>
  <dc:description/>
  <cp:lastModifiedBy>Beatriz Gamez Molina</cp:lastModifiedBy>
  <cp:revision>31</cp:revision>
  <dcterms:created xsi:type="dcterms:W3CDTF">2021-01-19T14:20:30Z</dcterms:created>
  <dcterms:modified xsi:type="dcterms:W3CDTF">2026-05-01T12:55:24Z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19</vt:i4>
  </property>
</Properties>
</file>